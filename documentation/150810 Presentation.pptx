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2"/>
  </p:notesMasterIdLst>
  <p:sldIdLst>
    <p:sldId id="257" r:id="rId3"/>
    <p:sldId id="265" r:id="rId4"/>
    <p:sldId id="266" r:id="rId5"/>
    <p:sldId id="260" r:id="rId6"/>
    <p:sldId id="263" r:id="rId7"/>
    <p:sldId id="261" r:id="rId8"/>
    <p:sldId id="271" r:id="rId9"/>
    <p:sldId id="272" r:id="rId10"/>
    <p:sldId id="273" r:id="rId11"/>
    <p:sldId id="274" r:id="rId12"/>
    <p:sldId id="275" r:id="rId13"/>
    <p:sldId id="276" r:id="rId14"/>
    <p:sldId id="267" r:id="rId15"/>
    <p:sldId id="268" r:id="rId16"/>
    <p:sldId id="258" r:id="rId17"/>
    <p:sldId id="269" r:id="rId18"/>
    <p:sldId id="270" r:id="rId19"/>
    <p:sldId id="277" r:id="rId20"/>
    <p:sldId id="278"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53" autoAdjust="0"/>
    <p:restoredTop sz="78508" autoAdjust="0"/>
  </p:normalViewPr>
  <p:slideViewPr>
    <p:cSldViewPr>
      <p:cViewPr varScale="1">
        <p:scale>
          <a:sx n="57" d="100"/>
          <a:sy n="57" d="100"/>
        </p:scale>
        <p:origin x="-183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C08A4B8-315E-4976-A9E6-7E6F5F078C6E}" type="datetimeFigureOut">
              <a:rPr lang="en-US" smtClean="0"/>
              <a:t>9/10/2015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F43142-CA2B-4D24-B1EF-72618AF70FAE}" type="slidenum">
              <a:rPr lang="en-US" smtClean="0"/>
              <a:t>‹#›</a:t>
            </a:fld>
            <a:endParaRPr lang="en-US"/>
          </a:p>
        </p:txBody>
      </p:sp>
    </p:spTree>
    <p:extLst>
      <p:ext uri="{BB962C8B-B14F-4D97-AF65-F5344CB8AC3E}">
        <p14:creationId xmlns:p14="http://schemas.microsoft.com/office/powerpoint/2010/main" val="244492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b="1" dirty="0" smtClean="0"/>
              <a:t>Purpose:</a:t>
            </a:r>
            <a:r>
              <a:rPr lang="en-US" altLang="en-US" dirty="0" smtClean="0"/>
              <a:t> To</a:t>
            </a:r>
            <a:r>
              <a:rPr lang="en-US" altLang="en-US" baseline="0" dirty="0" smtClean="0"/>
              <a:t> package and export expertise, </a:t>
            </a:r>
            <a:r>
              <a:rPr lang="en-US" altLang="en-US" dirty="0" smtClean="0"/>
              <a:t>enabling the creation of geospatial products that a user would not otherwise have the knowledge or time to create. </a:t>
            </a:r>
          </a:p>
          <a:p>
            <a:pPr eaLnBrk="1" hangingPunct="1">
              <a:spcBef>
                <a:spcPct val="0"/>
              </a:spcBef>
            </a:pPr>
            <a:r>
              <a:rPr lang="en-US" altLang="en-US" dirty="0" smtClean="0"/>
              <a:t> </a:t>
            </a:r>
          </a:p>
          <a:p>
            <a:pPr eaLnBrk="1" hangingPunct="1">
              <a:spcBef>
                <a:spcPct val="0"/>
              </a:spcBef>
            </a:pPr>
            <a:r>
              <a:rPr lang="en-US" altLang="en-US" b="1" dirty="0" smtClean="0"/>
              <a:t>Focus: </a:t>
            </a:r>
            <a:r>
              <a:rPr lang="en-US" altLang="en-US" dirty="0" smtClean="0"/>
              <a:t>This presentation focuses the creation of range ring maps through a series of graphical user interfaces</a:t>
            </a:r>
          </a:p>
        </p:txBody>
      </p:sp>
      <p:sp>
        <p:nvSpPr>
          <p:cNvPr id="25604"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fld id="{D9694A9B-F615-458A-A32A-511F57FCD9EC}" type="slidenum">
              <a:rPr lang="en-US" altLang="en-US" smtClean="0">
                <a:solidFill>
                  <a:prstClr val="black"/>
                </a:solidFill>
              </a:rPr>
              <a:pPr>
                <a:defRPr/>
              </a:pPr>
              <a:t>1</a:t>
            </a:fld>
            <a:endParaRPr lang="en-US" altLang="en-US" smtClean="0">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smtClean="0"/>
              <a:t>My name is Patrick and I work for the Missile</a:t>
            </a:r>
            <a:r>
              <a:rPr lang="en-US" altLang="en-US" baseline="0" dirty="0" smtClean="0"/>
              <a:t> Defense Agency’s Intelligence Requirements Division.</a:t>
            </a:r>
          </a:p>
          <a:p>
            <a:pPr eaLnBrk="1" hangingPunct="1">
              <a:spcBef>
                <a:spcPct val="0"/>
              </a:spcBef>
            </a:pPr>
            <a:endParaRPr lang="en-US" altLang="en-US" baseline="0" dirty="0" smtClean="0"/>
          </a:p>
          <a:p>
            <a:pPr eaLnBrk="1" hangingPunct="1">
              <a:spcBef>
                <a:spcPct val="0"/>
              </a:spcBef>
            </a:pPr>
            <a:r>
              <a:rPr lang="en-US" altLang="en-US" baseline="0" dirty="0" smtClean="0"/>
              <a:t>Our division’s goal is to act a conduit between MDA and the intelligence community (IC) facilitating the understanding of the current threat environment and visualizing future threats trends and its challenges in support of the ballistic missile defense system.</a:t>
            </a:r>
          </a:p>
          <a:p>
            <a:pPr eaLnBrk="1" hangingPunct="1">
              <a:spcBef>
                <a:spcPct val="0"/>
              </a:spcBef>
            </a:pPr>
            <a:endParaRPr lang="en-US" altLang="en-US" baseline="0" dirty="0" smtClean="0"/>
          </a:p>
          <a:p>
            <a:pPr eaLnBrk="1" hangingPunct="1">
              <a:spcBef>
                <a:spcPct val="0"/>
              </a:spcBef>
            </a:pPr>
            <a:endParaRPr lang="en-US" altLang="en-US" baseline="0" dirty="0" smtClean="0"/>
          </a:p>
          <a:p>
            <a:pPr eaLnBrk="1" hangingPunct="1">
              <a:spcBef>
                <a:spcPct val="0"/>
              </a:spcBef>
            </a:pPr>
            <a:endParaRPr lang="en-US" altLang="en-US" baseline="0" dirty="0" smtClean="0"/>
          </a:p>
          <a:p>
            <a:pPr marL="0" marR="0" indent="0" algn="l" defTabSz="914400" rtl="0" eaLnBrk="1" fontAlgn="auto" latinLnBrk="0" hangingPunct="1">
              <a:lnSpc>
                <a:spcPct val="100000"/>
              </a:lnSpc>
              <a:spcBef>
                <a:spcPct val="0"/>
              </a:spcBef>
              <a:spcAft>
                <a:spcPts val="0"/>
              </a:spcAft>
              <a:buClrTx/>
              <a:buSzTx/>
              <a:buFontTx/>
              <a:buNone/>
              <a:tabLst/>
              <a:defRPr/>
            </a:pPr>
            <a:r>
              <a:rPr lang="en-US" altLang="en-US" baseline="0" dirty="0" smtClean="0"/>
              <a:t>Our division’s mission is to </a:t>
            </a:r>
            <a:r>
              <a:rPr lang="en-US" sz="1200" kern="1200" dirty="0" smtClean="0">
                <a:solidFill>
                  <a:schemeClr val="tx1"/>
                </a:solidFill>
                <a:effectLst/>
                <a:latin typeface="+mn-lt"/>
                <a:ea typeface="+mn-ea"/>
                <a:cs typeface="+mn-cs"/>
              </a:rPr>
              <a:t>provide intelligence requirements support to senior leadership satisfying needs for understanding and visualizing the current and future strategic environment and its challenges to support future military strategic planning activities.</a:t>
            </a:r>
          </a:p>
          <a:p>
            <a:pPr eaLnBrk="1" hangingPunct="1">
              <a:spcBef>
                <a:spcPct val="0"/>
              </a:spcBef>
            </a:pPr>
            <a:endParaRPr lang="en-US" altLang="en-US" baseline="0" dirty="0" smtClean="0"/>
          </a:p>
          <a:p>
            <a:pPr eaLnBrk="1" hangingPunct="1">
              <a:spcBef>
                <a:spcPct val="0"/>
              </a:spcBef>
            </a:pPr>
            <a:r>
              <a:rPr lang="en-US" altLang="en-US" baseline="0" dirty="0" smtClean="0"/>
              <a:t>However…</a:t>
            </a:r>
          </a:p>
        </p:txBody>
      </p:sp>
      <p:sp>
        <p:nvSpPr>
          <p:cNvPr id="2662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fld id="{CFFDAD9B-B506-44F6-BFE0-1B03B95A2A55}" type="slidenum">
              <a:rPr lang="en-US" altLang="en-US" smtClean="0">
                <a:solidFill>
                  <a:prstClr val="black"/>
                </a:solidFill>
              </a:rPr>
              <a:pPr>
                <a:defRPr/>
              </a:pPr>
              <a:t>2</a:t>
            </a:fld>
            <a:endParaRPr lang="en-US" altLang="en-US" smtClean="0">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baseline="0" dirty="0" smtClean="0"/>
              <a:t>The threat is in a state of constant evolution; in both scope and severity and in doing so opens new opportunities to support our government client.</a:t>
            </a:r>
          </a:p>
          <a:p>
            <a:pPr eaLnBrk="1" hangingPunct="1">
              <a:spcBef>
                <a:spcPct val="0"/>
              </a:spcBef>
            </a:pPr>
            <a:endParaRPr lang="en-US" altLang="en-US" baseline="0" dirty="0" smtClean="0"/>
          </a:p>
          <a:p>
            <a:pPr eaLnBrk="1" hangingPunct="1">
              <a:spcBef>
                <a:spcPct val="0"/>
              </a:spcBef>
            </a:pPr>
            <a:endParaRPr lang="en-US" altLang="en-US" baseline="0" dirty="0" smtClean="0"/>
          </a:p>
        </p:txBody>
      </p:sp>
      <p:sp>
        <p:nvSpPr>
          <p:cNvPr id="2662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fld id="{CFFDAD9B-B506-44F6-BFE0-1B03B95A2A55}" type="slidenum">
              <a:rPr lang="en-US" altLang="en-US" smtClean="0">
                <a:solidFill>
                  <a:prstClr val="black"/>
                </a:solidFill>
              </a:rPr>
              <a:pPr>
                <a:defRPr/>
              </a:pPr>
              <a:t>3</a:t>
            </a:fld>
            <a:endParaRPr lang="en-US" altLang="en-US" smtClean="0">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smtClean="0"/>
              <a:t>I</a:t>
            </a:r>
            <a:r>
              <a:rPr lang="en-US" altLang="en-US" baseline="0" dirty="0" smtClean="0"/>
              <a:t> overheard a conversation from my boss and another government coworker regarding the generation of geospatial products for the Missile Defense agency.</a:t>
            </a:r>
          </a:p>
          <a:p>
            <a:pPr eaLnBrk="1" hangingPunct="1">
              <a:spcBef>
                <a:spcPct val="0"/>
              </a:spcBef>
            </a:pPr>
            <a:endParaRPr lang="en-US" altLang="en-US" baseline="0" dirty="0" smtClean="0"/>
          </a:p>
          <a:p>
            <a:pPr eaLnBrk="1" hangingPunct="1">
              <a:spcBef>
                <a:spcPct val="0"/>
              </a:spcBef>
            </a:pPr>
            <a:r>
              <a:rPr lang="en-US" altLang="en-US" baseline="0" dirty="0" smtClean="0"/>
              <a:t>He wanted to bring on a low level person to create range ring maps for the agency.</a:t>
            </a:r>
          </a:p>
        </p:txBody>
      </p:sp>
      <p:sp>
        <p:nvSpPr>
          <p:cNvPr id="2662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fld id="{CFFDAD9B-B506-44F6-BFE0-1B03B95A2A55}" type="slidenum">
              <a:rPr lang="en-US" altLang="en-US" smtClean="0">
                <a:solidFill>
                  <a:prstClr val="black"/>
                </a:solidFill>
              </a:rPr>
              <a:pPr>
                <a:defRPr/>
              </a:pPr>
              <a:t>4</a:t>
            </a:fld>
            <a:endParaRPr lang="en-US" altLang="en-US" smtClean="0">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smtClean="0"/>
              <a:t>However, there is nothing short of invigorated</a:t>
            </a:r>
            <a:r>
              <a:rPr lang="en-US" altLang="en-US" baseline="0" dirty="0" smtClean="0"/>
              <a:t> rage when it came to the associated costs of keeping let alone of bringing on additional contractors.</a:t>
            </a:r>
          </a:p>
          <a:p>
            <a:pPr eaLnBrk="1" hangingPunct="1">
              <a:spcBef>
                <a:spcPct val="0"/>
              </a:spcBef>
            </a:pPr>
            <a:endParaRPr lang="en-US" altLang="en-US" baseline="0" dirty="0" smtClean="0"/>
          </a:p>
          <a:p>
            <a:pPr eaLnBrk="1" hangingPunct="1">
              <a:spcBef>
                <a:spcPct val="0"/>
              </a:spcBef>
            </a:pPr>
            <a:r>
              <a:rPr lang="en-US" altLang="en-US" baseline="0" dirty="0" smtClean="0"/>
              <a:t>Thus a question presents itself.</a:t>
            </a:r>
          </a:p>
          <a:p>
            <a:pPr eaLnBrk="1" hangingPunct="1">
              <a:spcBef>
                <a:spcPct val="0"/>
              </a:spcBef>
            </a:pPr>
            <a:endParaRPr lang="en-US" altLang="en-US" baseline="0" dirty="0" smtClean="0"/>
          </a:p>
          <a:p>
            <a:pPr eaLnBrk="1" hangingPunct="1">
              <a:spcBef>
                <a:spcPct val="0"/>
              </a:spcBef>
            </a:pPr>
            <a:r>
              <a:rPr lang="en-US" altLang="en-US" baseline="0" dirty="0" smtClean="0"/>
              <a:t>How can you bring on the required expertise if the client is not willing to appropriate the additional funds?</a:t>
            </a:r>
          </a:p>
          <a:p>
            <a:pPr eaLnBrk="1" hangingPunct="1">
              <a:spcBef>
                <a:spcPct val="0"/>
              </a:spcBef>
            </a:pPr>
            <a:endParaRPr lang="en-US" altLang="en-US" baseline="0" dirty="0" smtClean="0"/>
          </a:p>
          <a:p>
            <a:pPr eaLnBrk="1" hangingPunct="1">
              <a:spcBef>
                <a:spcPct val="0"/>
              </a:spcBef>
            </a:pPr>
            <a:endParaRPr lang="en-US" altLang="en-US" dirty="0" smtClean="0"/>
          </a:p>
        </p:txBody>
      </p:sp>
      <p:sp>
        <p:nvSpPr>
          <p:cNvPr id="2662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fld id="{CFFDAD9B-B506-44F6-BFE0-1B03B95A2A55}" type="slidenum">
              <a:rPr lang="en-US" altLang="en-US" smtClean="0">
                <a:solidFill>
                  <a:prstClr val="black"/>
                </a:solidFill>
              </a:rPr>
              <a:pPr>
                <a:defRPr/>
              </a:pPr>
              <a:t>5</a:t>
            </a:fld>
            <a:endParaRPr lang="en-US" altLang="en-US" smtClean="0">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baseline="0" dirty="0" smtClean="0"/>
              <a:t>My </a:t>
            </a:r>
            <a:r>
              <a:rPr lang="en-US" altLang="en-US" baseline="0" dirty="0" smtClean="0"/>
              <a:t>solution is to bring experience from a programmer, an in house analyst and the process that creates the geospatial product.</a:t>
            </a:r>
          </a:p>
          <a:p>
            <a:pPr eaLnBrk="1" hangingPunct="1">
              <a:spcBef>
                <a:spcPct val="0"/>
              </a:spcBef>
            </a:pPr>
            <a:endParaRPr lang="en-US" altLang="en-US" baseline="0" dirty="0" smtClean="0"/>
          </a:p>
          <a:p>
            <a:pPr eaLnBrk="1" hangingPunct="1">
              <a:spcBef>
                <a:spcPct val="0"/>
              </a:spcBef>
            </a:pPr>
            <a:r>
              <a:rPr lang="en-US" altLang="en-US" baseline="0" dirty="0" smtClean="0"/>
              <a:t>Since late last year I have been learning how to program in python to integrate map making processes along with my expertise in missile defense and geospatial intelligence.</a:t>
            </a:r>
          </a:p>
          <a:p>
            <a:pPr eaLnBrk="1" hangingPunct="1">
              <a:spcBef>
                <a:spcPct val="0"/>
              </a:spcBef>
            </a:pPr>
            <a:endParaRPr lang="en-US" altLang="en-US" baseline="0" dirty="0" smtClean="0"/>
          </a:p>
          <a:p>
            <a:pPr eaLnBrk="1" hangingPunct="1">
              <a:spcBef>
                <a:spcPct val="0"/>
              </a:spcBef>
            </a:pPr>
            <a:endParaRPr lang="en-US" altLang="en-US" baseline="0" dirty="0" smtClean="0"/>
          </a:p>
          <a:p>
            <a:pPr eaLnBrk="1" hangingPunct="1">
              <a:spcBef>
                <a:spcPct val="0"/>
              </a:spcBef>
            </a:pPr>
            <a:endParaRPr lang="en-US" altLang="en-US" baseline="0" dirty="0" smtClean="0"/>
          </a:p>
          <a:p>
            <a:pPr eaLnBrk="1" hangingPunct="1">
              <a:spcBef>
                <a:spcPct val="0"/>
              </a:spcBef>
            </a:pPr>
            <a:endParaRPr lang="en-US" altLang="en-US" baseline="0" dirty="0" smtClean="0"/>
          </a:p>
        </p:txBody>
      </p:sp>
      <p:sp>
        <p:nvSpPr>
          <p:cNvPr id="2662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fld id="{CFFDAD9B-B506-44F6-BFE0-1B03B95A2A55}" type="slidenum">
              <a:rPr lang="en-US" altLang="en-US" smtClean="0">
                <a:solidFill>
                  <a:prstClr val="black"/>
                </a:solidFill>
              </a:rPr>
              <a:pPr>
                <a:defRPr/>
              </a:pPr>
              <a:t>6</a:t>
            </a:fld>
            <a:endParaRPr lang="en-US" altLang="en-US" smtClean="0">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30724"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467AEE3B-8685-4220-9657-8F4C05A48037}" type="slidenum">
              <a:rPr lang="en-US" altLang="en-US" smtClean="0"/>
              <a:pPr fontAlgn="base">
                <a:spcBef>
                  <a:spcPct val="0"/>
                </a:spcBef>
                <a:spcAft>
                  <a:spcPct val="0"/>
                </a:spcAft>
                <a:defRPr/>
              </a:pPr>
              <a:t>7</a:t>
            </a:fld>
            <a:endParaRPr lang="en-US"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Time of execution!</a:t>
            </a:r>
          </a:p>
          <a:p>
            <a:pPr eaLnBrk="1" hangingPunct="1">
              <a:spcBef>
                <a:spcPct val="0"/>
              </a:spcBef>
            </a:pPr>
            <a:endParaRPr lang="en-US" altLang="en-US" smtClean="0"/>
          </a:p>
          <a:p>
            <a:pPr eaLnBrk="1" hangingPunct="1">
              <a:spcBef>
                <a:spcPct val="0"/>
              </a:spcBef>
            </a:pPr>
            <a:r>
              <a:rPr lang="en-US" altLang="en-US" smtClean="0"/>
              <a:t>Matrix of processing time</a:t>
            </a:r>
          </a:p>
        </p:txBody>
      </p:sp>
      <p:sp>
        <p:nvSpPr>
          <p:cNvPr id="34820"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B18D9875-CA25-40B4-935D-D8EA782DCA87}" type="slidenum">
              <a:rPr lang="en-US" altLang="en-US" smtClean="0"/>
              <a:pPr fontAlgn="base">
                <a:spcBef>
                  <a:spcPct val="0"/>
                </a:spcBef>
                <a:spcAft>
                  <a:spcPct val="0"/>
                </a:spcAft>
                <a:defRPr/>
              </a:pPr>
              <a:t>8</a:t>
            </a:fld>
            <a:endParaRPr lang="en-US"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35844"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998EF71C-E590-491F-B035-0575A4BCC465}" type="slidenum">
              <a:rPr lang="en-US" altLang="en-US" smtClean="0"/>
              <a:pPr fontAlgn="base">
                <a:spcBef>
                  <a:spcPct val="0"/>
                </a:spcBef>
                <a:spcAft>
                  <a:spcPct val="0"/>
                </a:spcAft>
                <a:defRPr/>
              </a:pPr>
              <a:t>9</a:t>
            </a:fld>
            <a:endParaRPr lang="en-US"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3686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C68D1D45-DA81-4E7E-B286-D5A0A9A1C5AB}" type="slidenum">
              <a:rPr lang="en-US" altLang="en-US" smtClean="0"/>
              <a:pPr fontAlgn="base">
                <a:spcBef>
                  <a:spcPct val="0"/>
                </a:spcBef>
                <a:spcAft>
                  <a:spcPct val="0"/>
                </a:spcAft>
                <a:defRPr/>
              </a:pPr>
              <a:t>10</a:t>
            </a:fld>
            <a:endParaRPr lang="en-US"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37892"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1776316B-C70E-425D-B9D3-182974330905}" type="slidenum">
              <a:rPr lang="en-US" altLang="en-US" smtClean="0"/>
              <a:pPr fontAlgn="base">
                <a:spcBef>
                  <a:spcPct val="0"/>
                </a:spcBef>
                <a:spcAft>
                  <a:spcPct val="0"/>
                </a:spcAft>
                <a:defRPr/>
              </a:pPr>
              <a:t>11</a:t>
            </a:fld>
            <a:endParaRPr lang="en-US"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38916"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0F00BA2C-3D2A-478E-B930-26A61B3AA8D4}" type="slidenum">
              <a:rPr lang="en-US" altLang="en-US" smtClean="0"/>
              <a:pPr fontAlgn="base">
                <a:spcBef>
                  <a:spcPct val="0"/>
                </a:spcBef>
                <a:spcAft>
                  <a:spcPct val="0"/>
                </a:spcAft>
                <a:defRPr/>
              </a:pPr>
              <a:t>12</a:t>
            </a:fld>
            <a:endParaRPr lang="en-US"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A traditional ballistic missile is a missile that, after the rocket motor burns out, travels along a ballistic flight path. These missiles are categorized as either an SRBM, MRBM, IRBM and ICBM with an additional class of SLBM that is meant for ballistic missiles launched from a submarine.</a:t>
            </a:r>
          </a:p>
          <a:p>
            <a:pPr eaLnBrk="1" hangingPunct="1">
              <a:spcBef>
                <a:spcPct val="0"/>
              </a:spcBef>
            </a:pPr>
            <a:endParaRPr lang="en-US" altLang="en-US" smtClean="0"/>
          </a:p>
          <a:p>
            <a:pPr eaLnBrk="1" hangingPunct="1">
              <a:spcBef>
                <a:spcPct val="0"/>
              </a:spcBef>
            </a:pPr>
            <a:r>
              <a:rPr lang="en-US" altLang="en-US" smtClean="0"/>
              <a:t>[Image] NASIC, Ballistic and Cruise Missile Threat (NASIC-1031-0985-13), 11 July 2013 pg. 9 </a:t>
            </a:r>
          </a:p>
        </p:txBody>
      </p:sp>
      <p:sp>
        <p:nvSpPr>
          <p:cNvPr id="2662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5A0B5D82-2C43-4619-B978-70703C342150}" type="slidenum">
              <a:rPr lang="en-US" altLang="en-US" smtClean="0"/>
              <a:pPr fontAlgn="base">
                <a:spcBef>
                  <a:spcPct val="0"/>
                </a:spcBef>
                <a:spcAft>
                  <a:spcPct val="0"/>
                </a:spcAft>
                <a:defRPr/>
              </a:pPr>
              <a:t>14</a:t>
            </a:fld>
            <a:endParaRPr lang="en-US"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“Many countries view ballistic and cruise missile systems as cost-effective weapons and symbols of national power. In addition, they present an asymmetric threat to U.S. airpower (i.e. China’s CSS-5 Mod 5 (DF-21D) ASBM). Many ballistic missiles are armed with weapons of mass destruction.”[1][2][3]</a:t>
            </a:r>
          </a:p>
          <a:p>
            <a:pPr eaLnBrk="1" hangingPunct="1">
              <a:spcBef>
                <a:spcPct val="0"/>
              </a:spcBef>
            </a:pPr>
            <a:endParaRPr lang="en-US" altLang="en-US" smtClean="0"/>
          </a:p>
          <a:p>
            <a:pPr eaLnBrk="1" hangingPunct="1">
              <a:spcBef>
                <a:spcPct val="0"/>
              </a:spcBef>
            </a:pPr>
            <a:r>
              <a:rPr lang="en-US" altLang="en-US" smtClean="0"/>
              <a:t>[Top Left Image] Daily Mail, US Weapons Experts Claim North Korea’s Arsenal of Missiles That ‘Could Reach US’ are FAKE by Matt Blak, 16 August 2013</a:t>
            </a:r>
          </a:p>
          <a:p>
            <a:pPr eaLnBrk="1" hangingPunct="1">
              <a:spcBef>
                <a:spcPct val="0"/>
              </a:spcBef>
            </a:pPr>
            <a:r>
              <a:rPr lang="en-US" altLang="en-US" smtClean="0"/>
              <a:t>&lt;http://www.dailystormer.com/us-weapons-experts-claim-north-koreas-arsenal-of-missiles-that-could-reach-us-are-fake/&gt;</a:t>
            </a:r>
          </a:p>
          <a:p>
            <a:pPr eaLnBrk="1" hangingPunct="1">
              <a:spcBef>
                <a:spcPct val="0"/>
              </a:spcBef>
            </a:pPr>
            <a:endParaRPr lang="en-US" altLang="en-US" smtClean="0"/>
          </a:p>
          <a:p>
            <a:pPr eaLnBrk="1" hangingPunct="1">
              <a:spcBef>
                <a:spcPct val="0"/>
              </a:spcBef>
            </a:pPr>
            <a:r>
              <a:rPr lang="en-US" altLang="en-US" smtClean="0"/>
              <a:t>[Bottom Left Image] Intercepts, What China Wants for Christmas by wminnick, 01 December 2012</a:t>
            </a:r>
          </a:p>
          <a:p>
            <a:pPr eaLnBrk="1" hangingPunct="1">
              <a:spcBef>
                <a:spcPct val="0"/>
              </a:spcBef>
            </a:pPr>
            <a:r>
              <a:rPr lang="en-US" altLang="en-US" smtClean="0"/>
              <a:t>&lt;http://intercepts.defensenews.com/2012/12/what-china-wants-for-christmas/&gt;</a:t>
            </a:r>
          </a:p>
          <a:p>
            <a:pPr eaLnBrk="1" hangingPunct="1">
              <a:spcBef>
                <a:spcPct val="0"/>
              </a:spcBef>
            </a:pPr>
            <a:endParaRPr lang="en-US" altLang="en-US" smtClean="0"/>
          </a:p>
          <a:p>
            <a:pPr eaLnBrk="1" hangingPunct="1">
              <a:spcBef>
                <a:spcPct val="0"/>
              </a:spcBef>
            </a:pPr>
            <a:r>
              <a:rPr lang="en-US" altLang="en-US" smtClean="0"/>
              <a:t>Source:</a:t>
            </a:r>
          </a:p>
          <a:p>
            <a:pPr eaLnBrk="1" hangingPunct="1">
              <a:spcBef>
                <a:spcPct val="0"/>
              </a:spcBef>
            </a:pPr>
            <a:r>
              <a:rPr lang="en-US" altLang="en-US" smtClean="0"/>
              <a:t>[1] NASIC, Ballistic and Cruise Missile Threat (NASIC-1031-0985-13), 11 July 2013 pg. 3</a:t>
            </a:r>
          </a:p>
          <a:p>
            <a:pPr eaLnBrk="1" hangingPunct="1">
              <a:spcBef>
                <a:spcPct val="0"/>
              </a:spcBef>
            </a:pPr>
            <a:endParaRPr lang="en-US" altLang="en-US" smtClean="0"/>
          </a:p>
          <a:p>
            <a:pPr eaLnBrk="1" hangingPunct="1">
              <a:spcBef>
                <a:spcPct val="0"/>
              </a:spcBef>
            </a:pPr>
            <a:r>
              <a:rPr lang="en-US" altLang="en-US" smtClean="0"/>
              <a:t>[2] Andrew Erickson, Chinese ASBM Development: Drivers, Trajectories and Strategic Implicatons, [print] 18 September 2013</a:t>
            </a:r>
          </a:p>
          <a:p>
            <a:pPr eaLnBrk="1" hangingPunct="1">
              <a:spcBef>
                <a:spcPct val="0"/>
              </a:spcBef>
            </a:pPr>
            <a:endParaRPr lang="en-US" altLang="en-US" smtClean="0"/>
          </a:p>
          <a:p>
            <a:pPr eaLnBrk="1" hangingPunct="1">
              <a:spcBef>
                <a:spcPct val="0"/>
              </a:spcBef>
            </a:pPr>
            <a:r>
              <a:rPr lang="en-US" altLang="en-US" smtClean="0"/>
              <a:t>[3] Annual Report to Congress, Military and Security Developments Involving the People’s Republic of China 2015 (D-117FA69), 07 April 2015</a:t>
            </a:r>
          </a:p>
        </p:txBody>
      </p:sp>
      <p:sp>
        <p:nvSpPr>
          <p:cNvPr id="2662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fld id="{CFFDAD9B-B506-44F6-BFE0-1B03B95A2A55}" type="slidenum">
              <a:rPr lang="en-US" altLang="en-US" smtClean="0">
                <a:solidFill>
                  <a:prstClr val="black"/>
                </a:solidFill>
              </a:rPr>
              <a:pPr>
                <a:defRPr/>
              </a:pPr>
              <a:t>15</a:t>
            </a:fld>
            <a:endParaRPr lang="en-US" altLang="en-US" smtClean="0">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solidFill>
                <a:srgbClr val="FF0000"/>
              </a:solidFill>
            </a:endParaRPr>
          </a:p>
        </p:txBody>
      </p:sp>
      <p:sp>
        <p:nvSpPr>
          <p:cNvPr id="4" name="Slide Number Placeholder 3"/>
          <p:cNvSpPr>
            <a:spLocks noGrp="1"/>
          </p:cNvSpPr>
          <p:nvPr>
            <p:ph type="sldNum" sz="quarter" idx="5"/>
          </p:nvPr>
        </p:nvSpPr>
        <p:spPr/>
        <p:txBody>
          <a:bodyPr/>
          <a:lstStyle/>
          <a:p>
            <a:pPr>
              <a:defRPr/>
            </a:pPr>
            <a:fld id="{6083DBDD-02FE-43B4-B1A5-1E15A369A573}" type="slidenum">
              <a:rPr lang="en-US" smtClean="0"/>
              <a:pPr>
                <a:defRPr/>
              </a:pPr>
              <a:t>16</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smtClean="0"/>
          </a:p>
        </p:txBody>
      </p:sp>
      <p:sp>
        <p:nvSpPr>
          <p:cNvPr id="3174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4732A8D2-0457-4AAB-BFE7-BE0043177A2D}" type="slidenum">
              <a:rPr lang="en-US" altLang="en-US" smtClean="0"/>
              <a:pPr fontAlgn="base">
                <a:spcBef>
                  <a:spcPct val="0"/>
                </a:spcBef>
                <a:spcAft>
                  <a:spcPct val="0"/>
                </a:spcAft>
                <a:defRPr/>
              </a:pPr>
              <a:t>17</a:t>
            </a:fld>
            <a:endParaRPr lang="en-US"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4" name="Slide Number Placeholder 3"/>
          <p:cNvSpPr>
            <a:spLocks noGrp="1"/>
          </p:cNvSpPr>
          <p:nvPr>
            <p:ph type="sldNum" sz="quarter" idx="5"/>
          </p:nvPr>
        </p:nvSpPr>
        <p:spPr/>
        <p:txBody>
          <a:bodyPr/>
          <a:lstStyle/>
          <a:p>
            <a:pPr>
              <a:defRPr/>
            </a:pPr>
            <a:fld id="{F6778A59-2CF6-429A-B563-0F74BFF0C294}" type="slidenum">
              <a:rPr lang="en-US" smtClean="0"/>
              <a:pPr>
                <a:defRPr/>
              </a:pPr>
              <a:t>18</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30255985-CF08-4A4B-A957-F5990598ABFD}" type="slidenum">
              <a:rPr lang="en-US" smtClean="0"/>
              <a:pPr>
                <a:defRPr/>
              </a:pPr>
              <a:t>19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48ACB757-0754-4386-A798-A91555935844}"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6CA1B8DE-1C8C-4B21-BCBB-D6C22E5E4A49}"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015937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DD90621-576A-4589-9A8B-BBC0CD0EF57A}"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8BBC88D2-3EAF-4A44-AC4E-BCFC49331577}"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158245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3E29BC2B-A24E-45B8-A92F-ACC518D1DDA6}"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E4491A9-E51B-47C1-B16A-41D0978DBDC1}"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328566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2A0CC375-F13B-493D-AA7C-3AA5C42C92D2}"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010D2F60-E4AD-4CE4-9C13-E40799F8A968}"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4139478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2FC096A7-3D60-4B36-8F91-B321C9793D33}"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735E3AE5-7528-4422-9636-44F80701F0E7}"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795492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42D03E71-EA40-43DB-BC3E-9F6550FEDCDC}"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E6721EF7-E390-434D-A0D5-E571B4CAAB67}"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441823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1FC1AE4-AE79-4540-8CE5-FE3DA04ED724}"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DBA69AB4-8F77-4745-832F-81EB62BB280D}"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803689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2C22D4D9-514B-40B1-96C1-26607372FFC4}"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DA737D34-05DA-473D-B92E-470DCC82350A}"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133768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ED8D2F2-EC62-4303-B2F6-5629B6DA4310}"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0754BF6A-28B0-47FF-B6F5-5A1CD390A93C}"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044051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17F9F24-5A3D-4447-BBCC-A248B3C7392F}"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9B0B3DE-3506-424E-A1E1-36F73AD5A37E}"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132866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6324C39-F37D-4F9C-A871-1D3B996B2D29}"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522D9CF9-C326-47BF-A2E5-B7713D3DFB5E}"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303175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48ACB757-0754-4386-A798-A91555935844}"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6CA1B8DE-1C8C-4B21-BCBB-D6C22E5E4A49}"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020129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DD90621-576A-4589-9A8B-BBC0CD0EF57A}"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8BBC88D2-3EAF-4A44-AC4E-BCFC49331577}"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8005076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3E29BC2B-A24E-45B8-A92F-ACC518D1DDA6}"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E4491A9-E51B-47C1-B16A-41D0978DBDC1}"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8857882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2A0CC375-F13B-493D-AA7C-3AA5C42C92D2}"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010D2F60-E4AD-4CE4-9C13-E40799F8A968}"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5370503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2FC096A7-3D60-4B36-8F91-B321C9793D33}"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735E3AE5-7528-4422-9636-44F80701F0E7}"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0979001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42D03E71-EA40-43DB-BC3E-9F6550FEDCDC}"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E6721EF7-E390-434D-A0D5-E571B4CAAB67}"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964146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1FC1AE4-AE79-4540-8CE5-FE3DA04ED724}"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DBA69AB4-8F77-4745-832F-81EB62BB280D}"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9893229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2C22D4D9-514B-40B1-96C1-26607372FFC4}"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DA737D34-05DA-473D-B92E-470DCC82350A}"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4165441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ED8D2F2-EC62-4303-B2F6-5629B6DA4310}"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0754BF6A-28B0-47FF-B6F5-5A1CD390A93C}"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4107888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17F9F24-5A3D-4447-BBCC-A248B3C7392F}"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9B0B3DE-3506-424E-A1E1-36F73AD5A37E}"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4592586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6324C39-F37D-4F9C-A871-1D3B996B2D29}"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522D9CF9-C326-47BF-A2E5-B7713D3DFB5E}"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563400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28600"/>
            <a:ext cx="822960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123D99FA-2B98-4ED8-8F2F-06E8BD2F63FC}"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C3F93CAD-A992-412E-B4E0-E0ACFF29263F}"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3582861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28600"/>
            <a:ext cx="822960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123D99FA-2B98-4ED8-8F2F-06E8BD2F63FC}" type="datetimeFigureOut">
              <a:rPr lang="en-US">
                <a:solidFill>
                  <a:prstClr val="black">
                    <a:tint val="75000"/>
                  </a:prstClr>
                </a:solidFill>
              </a:rPr>
              <a:pPr>
                <a:defRPr/>
              </a:pPr>
              <a:t>9/10/2015</a:t>
            </a:fld>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C3F93CAD-A992-412E-B4E0-E0ACFF29263F}"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52322736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pn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2.jpe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62200"/>
            <a:ext cx="6553200" cy="1470025"/>
          </a:xfrm>
        </p:spPr>
        <p:txBody>
          <a:bodyPr rtlCol="0">
            <a:normAutofit fontScale="90000"/>
          </a:bodyPr>
          <a:lstStyle/>
          <a:p>
            <a:pPr eaLnBrk="1" fontAlgn="auto" hangingPunct="1">
              <a:spcAft>
                <a:spcPts val="0"/>
              </a:spcAft>
              <a:defRPr/>
            </a:pPr>
            <a:r>
              <a:rPr lang="en-US" b="1" dirty="0" smtClean="0"/>
              <a:t>Exporting Geospatial Expertise</a:t>
            </a:r>
            <a:br>
              <a:rPr lang="en-US" b="1" dirty="0" smtClean="0"/>
            </a:br>
            <a:r>
              <a:rPr lang="en-US" b="1" dirty="0" smtClean="0"/>
              <a:t/>
            </a:r>
            <a:br>
              <a:rPr lang="en-US" b="1" dirty="0" smtClean="0"/>
            </a:br>
            <a:r>
              <a:rPr lang="en-US" sz="3600" b="1" dirty="0" smtClean="0"/>
              <a:t>Python Scripting for ArcGIS</a:t>
            </a:r>
            <a:endParaRPr lang="en-US" sz="3600" b="1" dirty="0"/>
          </a:p>
        </p:txBody>
      </p:sp>
      <p:sp>
        <p:nvSpPr>
          <p:cNvPr id="2051" name="TextBox 2"/>
          <p:cNvSpPr txBox="1">
            <a:spLocks noChangeArrowheads="1"/>
          </p:cNvSpPr>
          <p:nvPr/>
        </p:nvSpPr>
        <p:spPr bwMode="auto">
          <a:xfrm>
            <a:off x="3962400" y="4495800"/>
            <a:ext cx="16525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fontAlgn="base" hangingPunct="1">
              <a:spcBef>
                <a:spcPct val="0"/>
              </a:spcBef>
              <a:spcAft>
                <a:spcPct val="0"/>
              </a:spcAft>
              <a:buFontTx/>
              <a:buNone/>
            </a:pPr>
            <a:r>
              <a:rPr lang="en-US" altLang="en-US" sz="1800" dirty="0">
                <a:solidFill>
                  <a:prstClr val="black"/>
                </a:solidFill>
                <a:cs typeface="Arial" charset="0"/>
              </a:rPr>
              <a:t>Patrick Flanigan</a:t>
            </a:r>
          </a:p>
          <a:p>
            <a:pPr algn="ctr" eaLnBrk="1" fontAlgn="base" hangingPunct="1">
              <a:spcBef>
                <a:spcPct val="0"/>
              </a:spcBef>
              <a:spcAft>
                <a:spcPct val="0"/>
              </a:spcAft>
              <a:buFontTx/>
              <a:buNone/>
            </a:pPr>
            <a:r>
              <a:rPr lang="en-US" altLang="en-US" sz="1800" dirty="0" smtClean="0">
                <a:solidFill>
                  <a:prstClr val="black"/>
                </a:solidFill>
                <a:cs typeface="Arial" charset="0"/>
              </a:rPr>
              <a:t>09/17/2015</a:t>
            </a:r>
            <a:endParaRPr lang="en-US" altLang="en-US" sz="1800" dirty="0">
              <a:solidFill>
                <a:prstClr val="black"/>
              </a:solidFill>
              <a:cs typeface="Arial" charset="0"/>
            </a:endParaRPr>
          </a:p>
        </p:txBody>
      </p:sp>
    </p:spTree>
    <p:extLst>
      <p:ext uri="{BB962C8B-B14F-4D97-AF65-F5344CB8AC3E}">
        <p14:creationId xmlns:p14="http://schemas.microsoft.com/office/powerpoint/2010/main" val="26545906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16199" y="2582447"/>
            <a:ext cx="2743201" cy="1598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AutoShape 9" descr="Image result for programm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p:cNvSpPr/>
          <p:nvPr/>
        </p:nvSpPr>
        <p:spPr>
          <a:xfrm>
            <a:off x="-5105400" y="3857647"/>
            <a:ext cx="4572000" cy="646331"/>
          </a:xfrm>
          <a:prstGeom prst="rect">
            <a:avLst/>
          </a:prstGeom>
        </p:spPr>
        <p:txBody>
          <a:bodyPr>
            <a:spAutoFit/>
          </a:bodyPr>
          <a:lstStyle/>
          <a:p>
            <a:r>
              <a:rPr lang="en-US" dirty="0"/>
              <a:t>https://bmd.ncia.nato.int/PublishingImages/des_images/trajectory.jpg</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975" y="933166"/>
            <a:ext cx="8513533" cy="4876800"/>
          </a:xfrm>
          <a:prstGeom prst="rect">
            <a:avLst/>
          </a:prstGeom>
          <a:solidFill>
            <a:schemeClr val="tx1"/>
          </a:solidFill>
          <a:ln>
            <a:noFill/>
          </a:ln>
        </p:spPr>
      </p:pic>
    </p:spTree>
    <p:extLst>
      <p:ext uri="{BB962C8B-B14F-4D97-AF65-F5344CB8AC3E}">
        <p14:creationId xmlns:p14="http://schemas.microsoft.com/office/powerpoint/2010/main" val="13295611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16199" y="2582447"/>
            <a:ext cx="2743201" cy="1598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AutoShape 9" descr="Image result for programm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Image result for intelligence analysi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404436"/>
            <a:ext cx="6172200" cy="617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24896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
          <p:cNvSpPr>
            <a:spLocks noChangeArrowheads="1"/>
          </p:cNvSpPr>
          <p:nvPr/>
        </p:nvSpPr>
        <p:spPr bwMode="auto">
          <a:xfrm>
            <a:off x="1736211" y="5677229"/>
            <a:ext cx="567157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fontAlgn="base" hangingPunct="1">
              <a:spcBef>
                <a:spcPct val="0"/>
              </a:spcBef>
              <a:spcAft>
                <a:spcPct val="0"/>
              </a:spcAft>
              <a:buFontTx/>
              <a:buNone/>
            </a:pPr>
            <a:r>
              <a:rPr lang="en-US" altLang="en-US" sz="2000" i="1" dirty="0" smtClean="0">
                <a:solidFill>
                  <a:prstClr val="black"/>
                </a:solidFill>
                <a:cs typeface="Arial" charset="0"/>
              </a:rPr>
              <a:t>What if we could hire someone to create geospatial products?</a:t>
            </a:r>
            <a:endParaRPr lang="en-US" altLang="en-US" sz="2000" i="1" dirty="0">
              <a:solidFill>
                <a:prstClr val="black"/>
              </a:solidFill>
              <a:cs typeface="Arial" charset="0"/>
            </a:endParaRPr>
          </a:p>
        </p:txBody>
      </p:sp>
      <p:pic>
        <p:nvPicPr>
          <p:cNvPr id="1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16199" y="2582447"/>
            <a:ext cx="2743201" cy="1598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AutoShape 9" descr="Image result for programm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5"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381000"/>
            <a:ext cx="7958814" cy="52962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72271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
          <p:cNvSpPr>
            <a:spLocks noChangeArrowheads="1"/>
          </p:cNvSpPr>
          <p:nvPr/>
        </p:nvSpPr>
        <p:spPr bwMode="auto">
          <a:xfrm>
            <a:off x="1736211" y="5677229"/>
            <a:ext cx="567157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fontAlgn="base" hangingPunct="1">
              <a:spcBef>
                <a:spcPct val="0"/>
              </a:spcBef>
              <a:spcAft>
                <a:spcPct val="0"/>
              </a:spcAft>
              <a:buFontTx/>
              <a:buNone/>
            </a:pPr>
            <a:r>
              <a:rPr lang="en-US" altLang="en-US" sz="2000" i="1" dirty="0" smtClean="0">
                <a:solidFill>
                  <a:prstClr val="black"/>
                </a:solidFill>
                <a:cs typeface="Arial" charset="0"/>
              </a:rPr>
              <a:t>Contractors are expensive I don’t want to spend anymore money!</a:t>
            </a:r>
            <a:endParaRPr lang="en-US" altLang="en-US" sz="2000" i="1" dirty="0">
              <a:solidFill>
                <a:prstClr val="black"/>
              </a:solidFill>
              <a:cs typeface="Arial" charset="0"/>
            </a:endParaRPr>
          </a:p>
        </p:txBody>
      </p:sp>
      <p:pic>
        <p:nvPicPr>
          <p:cNvPr id="1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16199" y="2582447"/>
            <a:ext cx="2743201" cy="1598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AutoShape 9" descr="Image result for programm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2" descr="Image result for angry boss money"/>
          <p:cNvSpPr>
            <a:spLocks noChangeAspect="1" noChangeArrowheads="1"/>
          </p:cNvSpPr>
          <p:nvPr/>
        </p:nvSpPr>
        <p:spPr bwMode="auto">
          <a:xfrm>
            <a:off x="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Image result for angry boss money"/>
          <p:cNvSpPr>
            <a:spLocks noChangeAspect="1" noChangeArrowheads="1"/>
          </p:cNvSpPr>
          <p:nvPr/>
        </p:nvSpPr>
        <p:spPr bwMode="auto">
          <a:xfrm>
            <a:off x="1524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6" descr="Image result for angry boss money"/>
          <p:cNvSpPr>
            <a:spLocks noChangeAspect="1" noChangeArrowheads="1"/>
          </p:cNvSpPr>
          <p:nvPr/>
        </p:nvSpPr>
        <p:spPr bwMode="auto">
          <a:xfrm>
            <a:off x="304800"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8" descr="Image result for angry boss money"/>
          <p:cNvSpPr>
            <a:spLocks noChangeAspect="1" noChangeArrowheads="1"/>
          </p:cNvSpPr>
          <p:nvPr/>
        </p:nvSpPr>
        <p:spPr bwMode="auto">
          <a:xfrm>
            <a:off x="457200"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3801"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64" y="693737"/>
            <a:ext cx="8286184" cy="4640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252132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a:spLocks noChangeArrowheads="1"/>
          </p:cNvSpPr>
          <p:nvPr/>
        </p:nvSpPr>
        <p:spPr bwMode="auto">
          <a:xfrm>
            <a:off x="48046" y="1326004"/>
            <a:ext cx="40279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fontAlgn="base" hangingPunct="1">
              <a:spcBef>
                <a:spcPct val="0"/>
              </a:spcBef>
              <a:spcAft>
                <a:spcPct val="0"/>
              </a:spcAft>
              <a:buFontTx/>
              <a:buNone/>
            </a:pPr>
            <a:r>
              <a:rPr lang="en-US" altLang="en-US" sz="2000" i="1" dirty="0" smtClean="0">
                <a:solidFill>
                  <a:prstClr val="black"/>
                </a:solidFill>
                <a:cs typeface="Arial" charset="0"/>
              </a:rPr>
              <a:t>A programmer</a:t>
            </a:r>
            <a:endParaRPr lang="en-US" altLang="en-US" sz="2000" i="1" dirty="0">
              <a:solidFill>
                <a:prstClr val="black"/>
              </a:solidFill>
              <a:cs typeface="Arial" charset="0"/>
            </a:endParaRPr>
          </a:p>
        </p:txBody>
      </p:sp>
      <p:sp>
        <p:nvSpPr>
          <p:cNvPr id="9" name="Rectangle 1"/>
          <p:cNvSpPr>
            <a:spLocks noChangeArrowheads="1"/>
          </p:cNvSpPr>
          <p:nvPr/>
        </p:nvSpPr>
        <p:spPr bwMode="auto">
          <a:xfrm>
            <a:off x="48046" y="4955058"/>
            <a:ext cx="40279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fontAlgn="base" hangingPunct="1">
              <a:spcBef>
                <a:spcPct val="0"/>
              </a:spcBef>
              <a:spcAft>
                <a:spcPct val="0"/>
              </a:spcAft>
              <a:buFontTx/>
              <a:buNone/>
            </a:pPr>
            <a:r>
              <a:rPr lang="en-US" altLang="en-US" sz="2000" i="1" dirty="0" smtClean="0">
                <a:solidFill>
                  <a:prstClr val="black"/>
                </a:solidFill>
                <a:cs typeface="Arial" charset="0"/>
              </a:rPr>
              <a:t>A process</a:t>
            </a:r>
            <a:endParaRPr lang="en-US" altLang="en-US" sz="2000" i="1" dirty="0">
              <a:solidFill>
                <a:prstClr val="black"/>
              </a:solidFill>
              <a:cs typeface="Arial" charset="0"/>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4984" y="2697193"/>
            <a:ext cx="1762125" cy="1400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Rectangle 1"/>
          <p:cNvSpPr>
            <a:spLocks noChangeArrowheads="1"/>
          </p:cNvSpPr>
          <p:nvPr/>
        </p:nvSpPr>
        <p:spPr bwMode="auto">
          <a:xfrm>
            <a:off x="0" y="3197225"/>
            <a:ext cx="4075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fontAlgn="base" hangingPunct="1">
              <a:spcBef>
                <a:spcPct val="0"/>
              </a:spcBef>
              <a:spcAft>
                <a:spcPct val="0"/>
              </a:spcAft>
              <a:buFontTx/>
              <a:buNone/>
            </a:pPr>
            <a:r>
              <a:rPr lang="en-US" altLang="en-US" sz="2000" i="1" dirty="0" smtClean="0">
                <a:solidFill>
                  <a:prstClr val="black"/>
                </a:solidFill>
                <a:cs typeface="Arial" charset="0"/>
              </a:rPr>
              <a:t>An analyst</a:t>
            </a:r>
            <a:endParaRPr lang="en-US" altLang="en-US" sz="2000" i="1" dirty="0">
              <a:solidFill>
                <a:prstClr val="black"/>
              </a:solidFill>
              <a:cs typeface="Arial" charset="0"/>
            </a:endParaRPr>
          </a:p>
        </p:txBody>
      </p:sp>
      <p:pic>
        <p:nvPicPr>
          <p:cNvPr id="1029" name="Picture 5" descr="Image result for machiner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9247" y="4345459"/>
            <a:ext cx="2133600" cy="159814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16199" y="2582447"/>
            <a:ext cx="2743201" cy="1598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AutoShape 9" descr="Image result for programm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4"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63821" y="933029"/>
            <a:ext cx="1284449" cy="15276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587160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p:nvPr>
        </p:nvSpPr>
        <p:spPr>
          <a:xfrm>
            <a:off x="0" y="457200"/>
            <a:ext cx="9144000" cy="1470025"/>
          </a:xfrm>
        </p:spPr>
        <p:txBody>
          <a:bodyPr/>
          <a:lstStyle/>
          <a:p>
            <a:pPr eaLnBrk="1" hangingPunct="1"/>
            <a:r>
              <a:rPr lang="en-US" altLang="en-US" b="1" smtClean="0"/>
              <a:t>Range Ring Generator Tools</a:t>
            </a:r>
          </a:p>
        </p:txBody>
      </p:sp>
      <p:pic>
        <p:nvPicPr>
          <p:cNvPr id="1024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741488"/>
            <a:ext cx="3186113" cy="4873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246" name="TextBox 1"/>
          <p:cNvSpPr txBox="1">
            <a:spLocks noChangeArrowheads="1"/>
          </p:cNvSpPr>
          <p:nvPr/>
        </p:nvSpPr>
        <p:spPr bwMode="auto">
          <a:xfrm>
            <a:off x="3413125" y="5040313"/>
            <a:ext cx="57292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a:t>--Product: Single or Multiple range rings with a minimum and maximum range for a place and associated weapon system.</a:t>
            </a:r>
          </a:p>
        </p:txBody>
      </p:sp>
      <p:sp>
        <p:nvSpPr>
          <p:cNvPr id="10247" name="TextBox 1"/>
          <p:cNvSpPr txBox="1">
            <a:spLocks noChangeArrowheads="1"/>
          </p:cNvSpPr>
          <p:nvPr/>
        </p:nvSpPr>
        <p:spPr bwMode="auto">
          <a:xfrm>
            <a:off x="3414713" y="4419600"/>
            <a:ext cx="57292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a:t>--Product: Single range ring representing minimum distance between a shooter and a target country.</a:t>
            </a:r>
          </a:p>
        </p:txBody>
      </p:sp>
      <p:sp>
        <p:nvSpPr>
          <p:cNvPr id="10248" name="TextBox 1"/>
          <p:cNvSpPr txBox="1">
            <a:spLocks noChangeArrowheads="1"/>
          </p:cNvSpPr>
          <p:nvPr/>
        </p:nvSpPr>
        <p:spPr bwMode="auto">
          <a:xfrm>
            <a:off x="3406775" y="3657600"/>
            <a:ext cx="57292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a:t>--Product: Shaded region of country where a system has to reside in order to reach a point target (i.e. major city)</a:t>
            </a:r>
          </a:p>
        </p:txBody>
      </p:sp>
      <p:sp>
        <p:nvSpPr>
          <p:cNvPr id="10249" name="TextBox 1"/>
          <p:cNvSpPr txBox="1">
            <a:spLocks noChangeArrowheads="1"/>
          </p:cNvSpPr>
          <p:nvPr/>
        </p:nvSpPr>
        <p:spPr bwMode="auto">
          <a:xfrm>
            <a:off x="3414713" y="3048000"/>
            <a:ext cx="5729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a:t>--Product: Multiple range rings around a country’s border</a:t>
            </a:r>
          </a:p>
        </p:txBody>
      </p:sp>
      <p:sp>
        <p:nvSpPr>
          <p:cNvPr id="10250" name="TextBox 1"/>
          <p:cNvSpPr txBox="1">
            <a:spLocks noChangeArrowheads="1"/>
          </p:cNvSpPr>
          <p:nvPr/>
        </p:nvSpPr>
        <p:spPr bwMode="auto">
          <a:xfrm>
            <a:off x="3414713" y="2519363"/>
            <a:ext cx="57292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a:t>--Product: Single range ring around a country’s border</a:t>
            </a:r>
          </a:p>
        </p:txBody>
      </p:sp>
    </p:spTree>
    <p:extLst>
      <p:ext uri="{BB962C8B-B14F-4D97-AF65-F5344CB8AC3E}">
        <p14:creationId xmlns:p14="http://schemas.microsoft.com/office/powerpoint/2010/main" val="8527542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ctrTitle"/>
          </p:nvPr>
        </p:nvSpPr>
        <p:spPr>
          <a:xfrm>
            <a:off x="76200" y="76200"/>
            <a:ext cx="4114800" cy="1981200"/>
          </a:xfrm>
        </p:spPr>
        <p:txBody>
          <a:bodyPr/>
          <a:lstStyle/>
          <a:p>
            <a:pPr eaLnBrk="1" hangingPunct="1"/>
            <a:r>
              <a:rPr lang="en-US" altLang="en-US" b="1" smtClean="0"/>
              <a:t>Single Range Ring Tool</a:t>
            </a:r>
          </a:p>
        </p:txBody>
      </p:sp>
      <p:pic>
        <p:nvPicPr>
          <p:cNvPr id="1126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4625" y="76200"/>
            <a:ext cx="5099050"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268" name="TextBox 1"/>
          <p:cNvSpPr txBox="1">
            <a:spLocks noChangeArrowheads="1"/>
          </p:cNvSpPr>
          <p:nvPr/>
        </p:nvSpPr>
        <p:spPr bwMode="auto">
          <a:xfrm>
            <a:off x="0" y="3429000"/>
            <a:ext cx="3984625"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dirty="0"/>
              <a:t>Example of Single Range Ring Output from the country border of Syria </a:t>
            </a:r>
          </a:p>
          <a:p>
            <a:pPr eaLnBrk="1" hangingPunct="1">
              <a:spcBef>
                <a:spcPct val="0"/>
              </a:spcBef>
              <a:buFontTx/>
              <a:buNone/>
            </a:pPr>
            <a:endParaRPr lang="en-US" altLang="en-US" sz="1800" dirty="0"/>
          </a:p>
          <a:p>
            <a:pPr eaLnBrk="1" hangingPunct="1">
              <a:spcBef>
                <a:spcPct val="0"/>
              </a:spcBef>
              <a:buFontTx/>
              <a:buNone/>
            </a:pPr>
            <a:r>
              <a:rPr lang="en-US" altLang="en-US" sz="1800" b="1" dirty="0"/>
              <a:t>Missile Type: </a:t>
            </a:r>
            <a:r>
              <a:rPr lang="en-US" altLang="en-US" sz="1800" dirty="0"/>
              <a:t>Scud D SRBM (range 700 km)</a:t>
            </a:r>
          </a:p>
          <a:p>
            <a:pPr eaLnBrk="1" hangingPunct="1">
              <a:spcBef>
                <a:spcPct val="0"/>
              </a:spcBef>
              <a:buFontTx/>
              <a:buNone/>
            </a:pPr>
            <a:endParaRPr lang="en-US" altLang="en-US" sz="1800" dirty="0"/>
          </a:p>
          <a:p>
            <a:pPr eaLnBrk="1" hangingPunct="1">
              <a:spcBef>
                <a:spcPct val="0"/>
              </a:spcBef>
              <a:buFontTx/>
              <a:buNone/>
            </a:pPr>
            <a:r>
              <a:rPr lang="en-US" altLang="en-US" sz="1800" b="1" dirty="0"/>
              <a:t>Time:  </a:t>
            </a:r>
            <a:r>
              <a:rPr lang="en-US" altLang="en-US" sz="1800" dirty="0" smtClean="0"/>
              <a:t>25 seconds </a:t>
            </a:r>
            <a:endParaRPr lang="en-US" altLang="en-US" sz="1800" dirty="0"/>
          </a:p>
          <a:p>
            <a:pPr eaLnBrk="1" hangingPunct="1">
              <a:spcBef>
                <a:spcPct val="0"/>
              </a:spcBef>
              <a:buFontTx/>
              <a:buNone/>
            </a:pPr>
            <a:r>
              <a:rPr lang="en-US" altLang="en-US" sz="1800" dirty="0"/>
              <a:t>(</a:t>
            </a:r>
            <a:r>
              <a:rPr lang="en-US" altLang="en-US" sz="1800" dirty="0" err="1"/>
              <a:t>Alienware</a:t>
            </a:r>
            <a:r>
              <a:rPr lang="en-US" altLang="en-US" sz="1800" dirty="0"/>
              <a:t> M11x Intel i7 </a:t>
            </a:r>
            <a:r>
              <a:rPr lang="en-US" altLang="en-US" sz="1800" dirty="0" smtClean="0"/>
              <a:t>CPU (quad core) </a:t>
            </a:r>
            <a:r>
              <a:rPr lang="en-US" altLang="en-US" sz="1800" dirty="0"/>
              <a:t>U640 @ 1.20 GHz 4.00 GB RAM)</a:t>
            </a:r>
          </a:p>
        </p:txBody>
      </p:sp>
      <p:pic>
        <p:nvPicPr>
          <p:cNvPr id="11269" name="Picture 6" descr="C:\Users\MR2420~1.P\Desktop\showcase\RANGE_~1\exported_images\Syria_ScudD_SRBM_70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4625" y="2974975"/>
            <a:ext cx="5024438" cy="38830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42478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ctrTitle"/>
          </p:nvPr>
        </p:nvSpPr>
        <p:spPr>
          <a:xfrm>
            <a:off x="152400" y="342900"/>
            <a:ext cx="3581400" cy="1562100"/>
          </a:xfrm>
        </p:spPr>
        <p:txBody>
          <a:bodyPr/>
          <a:lstStyle/>
          <a:p>
            <a:pPr eaLnBrk="1" hangingPunct="1"/>
            <a:r>
              <a:rPr lang="en-US" altLang="en-US" b="1" smtClean="0"/>
              <a:t>Multiple Range Ring Tool</a:t>
            </a:r>
          </a:p>
        </p:txBody>
      </p:sp>
      <p:pic>
        <p:nvPicPr>
          <p:cNvPr id="1229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39688"/>
            <a:ext cx="4594225" cy="3314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292" name="TextBox 4"/>
          <p:cNvSpPr txBox="1">
            <a:spLocks noChangeArrowheads="1"/>
          </p:cNvSpPr>
          <p:nvPr/>
        </p:nvSpPr>
        <p:spPr bwMode="auto">
          <a:xfrm>
            <a:off x="0" y="3886200"/>
            <a:ext cx="434340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dirty="0"/>
              <a:t>Example of Multiple Range Ring Output from the country boundary of Syria</a:t>
            </a:r>
          </a:p>
          <a:p>
            <a:pPr eaLnBrk="1" hangingPunct="1">
              <a:spcBef>
                <a:spcPct val="0"/>
              </a:spcBef>
              <a:buFontTx/>
              <a:buNone/>
            </a:pPr>
            <a:endParaRPr lang="en-US" altLang="en-US" sz="1800" dirty="0"/>
          </a:p>
          <a:p>
            <a:pPr eaLnBrk="1" hangingPunct="1">
              <a:spcBef>
                <a:spcPct val="0"/>
              </a:spcBef>
              <a:buFontTx/>
              <a:buNone/>
            </a:pPr>
            <a:r>
              <a:rPr lang="en-US" altLang="en-US" sz="1800" b="1" dirty="0"/>
              <a:t>Missile Type: </a:t>
            </a:r>
            <a:r>
              <a:rPr lang="en-US" altLang="en-US" sz="1800" dirty="0"/>
              <a:t>SRBM (ranges from 100-500 km)</a:t>
            </a:r>
          </a:p>
          <a:p>
            <a:pPr eaLnBrk="1" hangingPunct="1">
              <a:spcBef>
                <a:spcPct val="0"/>
              </a:spcBef>
              <a:buFontTx/>
              <a:buNone/>
            </a:pPr>
            <a:endParaRPr lang="en-US" altLang="en-US" sz="1800" dirty="0"/>
          </a:p>
          <a:p>
            <a:pPr eaLnBrk="1" hangingPunct="1">
              <a:spcBef>
                <a:spcPct val="0"/>
              </a:spcBef>
              <a:buFontTx/>
              <a:buNone/>
            </a:pPr>
            <a:r>
              <a:rPr lang="en-US" altLang="en-US" sz="1800" b="1" dirty="0"/>
              <a:t>Time:  </a:t>
            </a:r>
            <a:r>
              <a:rPr lang="en-US" altLang="en-US" sz="1800" dirty="0"/>
              <a:t>1</a:t>
            </a:r>
            <a:r>
              <a:rPr lang="en-US" altLang="en-US" sz="1800" dirty="0" smtClean="0"/>
              <a:t> </a:t>
            </a:r>
            <a:r>
              <a:rPr lang="en-US" altLang="en-US" sz="1800" dirty="0"/>
              <a:t>minutes 28 seconds </a:t>
            </a:r>
          </a:p>
          <a:p>
            <a:pPr eaLnBrk="1" hangingPunct="1">
              <a:spcBef>
                <a:spcPct val="0"/>
              </a:spcBef>
              <a:buFontTx/>
              <a:buNone/>
            </a:pPr>
            <a:r>
              <a:rPr lang="en-US" altLang="en-US" sz="1800" dirty="0"/>
              <a:t>(</a:t>
            </a:r>
            <a:r>
              <a:rPr lang="en-US" altLang="en-US" sz="1800" dirty="0" err="1"/>
              <a:t>Alienware</a:t>
            </a:r>
            <a:r>
              <a:rPr lang="en-US" altLang="en-US" sz="1800" dirty="0"/>
              <a:t> M11x Intel i7 CPU (quad core) U640 @ 1.20 GHz 4.00 GB RAM)</a:t>
            </a:r>
          </a:p>
        </p:txBody>
      </p:sp>
      <p:pic>
        <p:nvPicPr>
          <p:cNvPr id="12293" name="Picture 6" descr="C:\Users\MR2420~1.P\Desktop\showcase\RANGE_~1\exported_images\Syria_multi_range_ring100_200_300_400_500_.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4538" y="3370263"/>
            <a:ext cx="4513262" cy="34877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246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152400"/>
            <a:ext cx="5254625" cy="24495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315" name="Title 1"/>
          <p:cNvSpPr txBox="1">
            <a:spLocks/>
          </p:cNvSpPr>
          <p:nvPr/>
        </p:nvSpPr>
        <p:spPr bwMode="auto">
          <a:xfrm>
            <a:off x="152400" y="152400"/>
            <a:ext cx="34290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en-US" altLang="en-US" sz="4400" b="1"/>
              <a:t>Reverse Range Ring Tool</a:t>
            </a:r>
          </a:p>
        </p:txBody>
      </p:sp>
      <p:sp>
        <p:nvSpPr>
          <p:cNvPr id="13316" name="TextBox 4"/>
          <p:cNvSpPr txBox="1">
            <a:spLocks noChangeArrowheads="1"/>
          </p:cNvSpPr>
          <p:nvPr/>
        </p:nvSpPr>
        <p:spPr bwMode="auto">
          <a:xfrm>
            <a:off x="0" y="3551238"/>
            <a:ext cx="35814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dirty="0"/>
              <a:t>Example of Reverse Range Ring Output</a:t>
            </a:r>
          </a:p>
          <a:p>
            <a:pPr eaLnBrk="1" hangingPunct="1">
              <a:spcBef>
                <a:spcPct val="0"/>
              </a:spcBef>
              <a:buFontTx/>
              <a:buNone/>
            </a:pPr>
            <a:endParaRPr lang="en-US" altLang="en-US" sz="1800" dirty="0"/>
          </a:p>
          <a:p>
            <a:pPr eaLnBrk="1" hangingPunct="1">
              <a:spcBef>
                <a:spcPct val="0"/>
              </a:spcBef>
              <a:buFontTx/>
              <a:buNone/>
            </a:pPr>
            <a:r>
              <a:rPr lang="en-US" altLang="en-US" sz="1800" b="1" dirty="0"/>
              <a:t>Missile Type:</a:t>
            </a:r>
            <a:r>
              <a:rPr lang="en-US" altLang="en-US" sz="1800" dirty="0"/>
              <a:t> CSS-10 Mod 2 ICBM (</a:t>
            </a:r>
            <a:r>
              <a:rPr lang="en-US" altLang="en-US" sz="1800" dirty="0" smtClean="0"/>
              <a:t>11,200 </a:t>
            </a:r>
            <a:r>
              <a:rPr lang="en-US" altLang="en-US" sz="1800" dirty="0"/>
              <a:t>km)</a:t>
            </a:r>
          </a:p>
          <a:p>
            <a:pPr eaLnBrk="1" hangingPunct="1">
              <a:spcBef>
                <a:spcPct val="0"/>
              </a:spcBef>
              <a:buFontTx/>
              <a:buNone/>
            </a:pPr>
            <a:endParaRPr lang="en-US" altLang="en-US" sz="1800" dirty="0"/>
          </a:p>
          <a:p>
            <a:pPr eaLnBrk="1" hangingPunct="1">
              <a:spcBef>
                <a:spcPct val="0"/>
              </a:spcBef>
              <a:buFontTx/>
              <a:buNone/>
            </a:pPr>
            <a:r>
              <a:rPr lang="en-US" altLang="en-US" sz="1800" b="1" dirty="0"/>
              <a:t>Calculate: </a:t>
            </a:r>
            <a:r>
              <a:rPr lang="en-US" altLang="en-US" sz="1800" dirty="0" smtClean="0"/>
              <a:t>1 second</a:t>
            </a:r>
            <a:endParaRPr lang="en-US" altLang="en-US" sz="1800" dirty="0"/>
          </a:p>
          <a:p>
            <a:pPr eaLnBrk="1" hangingPunct="1">
              <a:spcBef>
                <a:spcPct val="0"/>
              </a:spcBef>
              <a:buFontTx/>
              <a:buNone/>
            </a:pPr>
            <a:r>
              <a:rPr lang="en-US" altLang="en-US" sz="1800" b="1" dirty="0"/>
              <a:t>Generate Map: </a:t>
            </a:r>
            <a:r>
              <a:rPr lang="en-US" altLang="en-US" sz="1800" dirty="0" smtClean="0"/>
              <a:t>15 </a:t>
            </a:r>
            <a:r>
              <a:rPr lang="en-US" altLang="en-US" sz="1800" dirty="0"/>
              <a:t>seconds</a:t>
            </a:r>
          </a:p>
          <a:p>
            <a:pPr eaLnBrk="1" hangingPunct="1">
              <a:spcBef>
                <a:spcPct val="0"/>
              </a:spcBef>
              <a:buFontTx/>
              <a:buNone/>
            </a:pPr>
            <a:r>
              <a:rPr lang="en-US" altLang="en-US" sz="1800" b="1" dirty="0"/>
              <a:t>Total: </a:t>
            </a:r>
            <a:r>
              <a:rPr lang="en-US" altLang="en-US" sz="1800" dirty="0" smtClean="0"/>
              <a:t>16 </a:t>
            </a:r>
            <a:r>
              <a:rPr lang="en-US" altLang="en-US" sz="1800" dirty="0"/>
              <a:t>seconds</a:t>
            </a:r>
            <a:endParaRPr lang="en-US" altLang="en-US" sz="1800" b="1" dirty="0"/>
          </a:p>
          <a:p>
            <a:pPr eaLnBrk="1" hangingPunct="1">
              <a:spcBef>
                <a:spcPct val="0"/>
              </a:spcBef>
              <a:buFontTx/>
              <a:buNone/>
            </a:pPr>
            <a:r>
              <a:rPr lang="en-US" altLang="en-US" sz="1800" dirty="0"/>
              <a:t>(</a:t>
            </a:r>
            <a:r>
              <a:rPr lang="en-US" altLang="en-US" sz="1800" dirty="0" err="1"/>
              <a:t>Alienware</a:t>
            </a:r>
            <a:r>
              <a:rPr lang="en-US" altLang="en-US" sz="1800" dirty="0"/>
              <a:t> M11x Intel i7 CPU (quad core) U640 @ 1.20 GHz 4.00 GB RAM)</a:t>
            </a:r>
          </a:p>
        </p:txBody>
      </p:sp>
      <p:pic>
        <p:nvPicPr>
          <p:cNvPr id="1026" name="Picture 2" descr="C:\showcase\RANGE_~1\exported_images\WashingtonDC_China_CSS10Mod2_11200.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33800" y="2781300"/>
            <a:ext cx="5275729" cy="40767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11722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txBox="1">
            <a:spLocks/>
          </p:cNvSpPr>
          <p:nvPr/>
        </p:nvSpPr>
        <p:spPr bwMode="auto">
          <a:xfrm>
            <a:off x="203200" y="762000"/>
            <a:ext cx="30480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en-US" altLang="en-US" sz="4400" b="1"/>
              <a:t>Minimum Range Ring Tool</a:t>
            </a:r>
          </a:p>
        </p:txBody>
      </p:sp>
      <p:pic>
        <p:nvPicPr>
          <p:cNvPr id="1433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76200"/>
            <a:ext cx="4643438" cy="3013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340" name="TextBox 4"/>
          <p:cNvSpPr txBox="1">
            <a:spLocks noChangeArrowheads="1"/>
          </p:cNvSpPr>
          <p:nvPr/>
        </p:nvSpPr>
        <p:spPr bwMode="auto">
          <a:xfrm>
            <a:off x="0" y="3773488"/>
            <a:ext cx="41148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dirty="0"/>
              <a:t>Example of Minimum Range Ring Output from Israel to Iran</a:t>
            </a:r>
          </a:p>
          <a:p>
            <a:pPr eaLnBrk="1" hangingPunct="1">
              <a:spcBef>
                <a:spcPct val="0"/>
              </a:spcBef>
              <a:buFontTx/>
              <a:buNone/>
            </a:pPr>
            <a:endParaRPr lang="en-US" altLang="en-US" sz="1800" dirty="0"/>
          </a:p>
          <a:p>
            <a:pPr eaLnBrk="1" hangingPunct="1">
              <a:spcBef>
                <a:spcPct val="0"/>
              </a:spcBef>
              <a:buFontTx/>
              <a:buNone/>
            </a:pPr>
            <a:r>
              <a:rPr lang="en-US" altLang="en-US" sz="1800" b="1" dirty="0"/>
              <a:t>Calculate: </a:t>
            </a:r>
            <a:r>
              <a:rPr lang="en-US" altLang="en-US" sz="1800" dirty="0"/>
              <a:t>2</a:t>
            </a:r>
            <a:r>
              <a:rPr lang="en-US" altLang="en-US" sz="1800" dirty="0" smtClean="0"/>
              <a:t> seconds</a:t>
            </a:r>
            <a:endParaRPr lang="en-US" altLang="en-US" sz="1800" dirty="0"/>
          </a:p>
          <a:p>
            <a:pPr eaLnBrk="1" hangingPunct="1">
              <a:spcBef>
                <a:spcPct val="0"/>
              </a:spcBef>
              <a:buFontTx/>
              <a:buNone/>
            </a:pPr>
            <a:r>
              <a:rPr lang="en-US" altLang="en-US" sz="1800" b="1" dirty="0"/>
              <a:t>Generate Map: </a:t>
            </a:r>
            <a:r>
              <a:rPr lang="en-US" altLang="en-US" sz="1800" dirty="0" smtClean="0"/>
              <a:t>40 </a:t>
            </a:r>
            <a:r>
              <a:rPr lang="en-US" altLang="en-US" sz="1800" dirty="0"/>
              <a:t>seconds</a:t>
            </a:r>
          </a:p>
          <a:p>
            <a:pPr eaLnBrk="1" hangingPunct="1">
              <a:spcBef>
                <a:spcPct val="0"/>
              </a:spcBef>
              <a:buFontTx/>
              <a:buNone/>
            </a:pPr>
            <a:r>
              <a:rPr lang="en-US" altLang="en-US" sz="1800" b="1" dirty="0"/>
              <a:t>Total: </a:t>
            </a:r>
            <a:r>
              <a:rPr lang="en-US" altLang="en-US" sz="1800" dirty="0" smtClean="0"/>
              <a:t>42 seconds</a:t>
            </a:r>
            <a:endParaRPr lang="en-US" altLang="en-US" sz="1800" b="1" dirty="0"/>
          </a:p>
          <a:p>
            <a:pPr eaLnBrk="1" hangingPunct="1">
              <a:spcBef>
                <a:spcPct val="0"/>
              </a:spcBef>
              <a:buFontTx/>
              <a:buNone/>
            </a:pPr>
            <a:r>
              <a:rPr lang="en-US" altLang="en-US" sz="1800" dirty="0"/>
              <a:t>(</a:t>
            </a:r>
            <a:r>
              <a:rPr lang="en-US" altLang="en-US" sz="1800" dirty="0" err="1"/>
              <a:t>Alienware</a:t>
            </a:r>
            <a:r>
              <a:rPr lang="en-US" altLang="en-US" sz="1800" dirty="0"/>
              <a:t> M11x Intel i7 CPU (quad core) U640 @ 1.20 GHz 4.00 GB RAM)</a:t>
            </a:r>
          </a:p>
          <a:p>
            <a:pPr eaLnBrk="1" hangingPunct="1">
              <a:spcBef>
                <a:spcPct val="0"/>
              </a:spcBef>
              <a:buFontTx/>
              <a:buNone/>
            </a:pPr>
            <a:endParaRPr lang="en-US" altLang="en-US" sz="1800" dirty="0"/>
          </a:p>
          <a:p>
            <a:pPr eaLnBrk="1" hangingPunct="1">
              <a:spcBef>
                <a:spcPct val="0"/>
              </a:spcBef>
              <a:buFontTx/>
              <a:buNone/>
            </a:pPr>
            <a:endParaRPr lang="en-US" altLang="en-US" sz="1800" dirty="0"/>
          </a:p>
          <a:p>
            <a:pPr eaLnBrk="1" hangingPunct="1">
              <a:spcBef>
                <a:spcPct val="0"/>
              </a:spcBef>
              <a:buFontTx/>
              <a:buNone/>
            </a:pPr>
            <a:endParaRPr lang="en-US" altLang="en-US" sz="1800" dirty="0"/>
          </a:p>
        </p:txBody>
      </p:sp>
      <p:pic>
        <p:nvPicPr>
          <p:cNvPr id="14341" name="Picture 6" descr="C:\Users\MR2420~1.P\Desktop\showcase\RANGE_~1\exported_images\minimum_Range_Iran_Israel.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3194050"/>
            <a:ext cx="4589463" cy="3546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90602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txBox="1">
            <a:spLocks/>
          </p:cNvSpPr>
          <p:nvPr/>
        </p:nvSpPr>
        <p:spPr bwMode="auto">
          <a:xfrm>
            <a:off x="-76200" y="765175"/>
            <a:ext cx="3733800" cy="159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en-US" altLang="en-US" sz="4400" b="1" dirty="0"/>
              <a:t>Custom Point of Interest(s) Range Ring Tool</a:t>
            </a:r>
          </a:p>
        </p:txBody>
      </p:sp>
      <p:pic>
        <p:nvPicPr>
          <p:cNvPr id="15363" name="Picture 2"/>
          <p:cNvPicPr>
            <a:picLocks noChangeAspect="1" noChangeArrowheads="1"/>
          </p:cNvPicPr>
          <p:nvPr/>
        </p:nvPicPr>
        <p:blipFill>
          <a:blip r:embed="rId3">
            <a:extLst>
              <a:ext uri="{28A0092B-C50C-407E-A947-70E740481C1C}">
                <a14:useLocalDpi xmlns:a14="http://schemas.microsoft.com/office/drawing/2010/main" val="0"/>
              </a:ext>
            </a:extLst>
          </a:blip>
          <a:srcRect t="10883"/>
          <a:stretch>
            <a:fillRect/>
          </a:stretch>
        </p:blipFill>
        <p:spPr bwMode="auto">
          <a:xfrm>
            <a:off x="20638" y="3276600"/>
            <a:ext cx="4097337" cy="35290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364" name="TextBox 1"/>
          <p:cNvSpPr txBox="1">
            <a:spLocks noChangeArrowheads="1"/>
          </p:cNvSpPr>
          <p:nvPr/>
        </p:nvSpPr>
        <p:spPr bwMode="auto">
          <a:xfrm>
            <a:off x="9525000" y="950913"/>
            <a:ext cx="860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a:t>Origin?</a:t>
            </a:r>
          </a:p>
        </p:txBody>
      </p:sp>
      <p:sp>
        <p:nvSpPr>
          <p:cNvPr id="15365" name="TextBox 2"/>
          <p:cNvSpPr txBox="1">
            <a:spLocks noChangeArrowheads="1"/>
          </p:cNvSpPr>
          <p:nvPr/>
        </p:nvSpPr>
        <p:spPr bwMode="auto">
          <a:xfrm>
            <a:off x="4114800" y="3886200"/>
            <a:ext cx="49530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dirty="0"/>
              <a:t>Example of range rings around custom points of interest (stored in point entry list </a:t>
            </a:r>
            <a:r>
              <a:rPr lang="en-US" altLang="en-US" sz="1800" dirty="0" err="1"/>
              <a:t>dropbox</a:t>
            </a:r>
            <a:r>
              <a:rPr lang="en-US" altLang="en-US" sz="1800" dirty="0"/>
              <a:t>)</a:t>
            </a:r>
          </a:p>
          <a:p>
            <a:pPr eaLnBrk="1" hangingPunct="1">
              <a:spcBef>
                <a:spcPct val="0"/>
              </a:spcBef>
              <a:buFontTx/>
              <a:buNone/>
            </a:pPr>
            <a:endParaRPr lang="en-US" altLang="en-US" sz="1800" dirty="0"/>
          </a:p>
          <a:p>
            <a:pPr eaLnBrk="1" hangingPunct="1">
              <a:spcBef>
                <a:spcPct val="0"/>
              </a:spcBef>
              <a:buFontTx/>
              <a:buNone/>
            </a:pPr>
            <a:r>
              <a:rPr lang="en-US" altLang="en-US" sz="1800" dirty="0"/>
              <a:t>Range rings = min/max range of a given system from a given point with each place given a different color dot.</a:t>
            </a:r>
          </a:p>
          <a:p>
            <a:pPr eaLnBrk="1" hangingPunct="1">
              <a:spcBef>
                <a:spcPct val="0"/>
              </a:spcBef>
              <a:buFontTx/>
              <a:buNone/>
            </a:pPr>
            <a:endParaRPr lang="en-US" altLang="en-US" sz="1800" dirty="0"/>
          </a:p>
          <a:p>
            <a:pPr eaLnBrk="1" hangingPunct="1">
              <a:spcBef>
                <a:spcPct val="0"/>
              </a:spcBef>
              <a:buFontTx/>
              <a:buNone/>
            </a:pPr>
            <a:r>
              <a:rPr lang="en-US" altLang="en-US" sz="1800" b="1" dirty="0"/>
              <a:t>Total: </a:t>
            </a:r>
            <a:r>
              <a:rPr lang="en-US" altLang="en-US" sz="1800" dirty="0"/>
              <a:t> </a:t>
            </a:r>
            <a:r>
              <a:rPr lang="en-US" altLang="en-US" sz="1800" dirty="0" smtClean="0"/>
              <a:t>24 </a:t>
            </a:r>
            <a:r>
              <a:rPr lang="en-US" altLang="en-US" sz="1800" dirty="0"/>
              <a:t>seconds</a:t>
            </a:r>
            <a:endParaRPr lang="en-US" altLang="en-US" sz="1800" b="1" dirty="0"/>
          </a:p>
          <a:p>
            <a:pPr eaLnBrk="1" hangingPunct="1">
              <a:spcBef>
                <a:spcPct val="0"/>
              </a:spcBef>
              <a:buFontTx/>
              <a:buNone/>
            </a:pPr>
            <a:r>
              <a:rPr lang="en-US" altLang="en-US" sz="1800" dirty="0"/>
              <a:t>(</a:t>
            </a:r>
            <a:r>
              <a:rPr lang="en-US" altLang="en-US" sz="1800" dirty="0" err="1"/>
              <a:t>Alienware</a:t>
            </a:r>
            <a:r>
              <a:rPr lang="en-US" altLang="en-US" sz="1800" dirty="0"/>
              <a:t> M11x Intel i7 CPU (quad core) U640 @ 1.20 GHz 4.00 GB RAM)</a:t>
            </a:r>
          </a:p>
          <a:p>
            <a:pPr eaLnBrk="1" hangingPunct="1">
              <a:spcBef>
                <a:spcPct val="0"/>
              </a:spcBef>
              <a:buFontTx/>
              <a:buNone/>
            </a:pPr>
            <a:endParaRPr lang="en-US" altLang="en-US" sz="1800" dirty="0"/>
          </a:p>
        </p:txBody>
      </p:sp>
      <p:pic>
        <p:nvPicPr>
          <p:cNvPr id="15366" name="Picture 7" descr="C:\Users\MR2420~1.P\Desktop\showcase\RANGE_~1\exported_images\custom_POI_QuickStrike_4.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2138" y="77788"/>
            <a:ext cx="4635500" cy="3581400"/>
          </a:xfrm>
          <a:prstGeom prst="rect">
            <a:avLst/>
          </a:prstGeom>
          <a:solidFill>
            <a:schemeClr val="tx1"/>
          </a:solidFill>
          <a:ln w="9525">
            <a:solidFill>
              <a:schemeClr val="tx1"/>
            </a:solidFill>
            <a:miter lim="800000"/>
            <a:headEnd/>
            <a:tailEnd/>
          </a:ln>
        </p:spPr>
      </p:pic>
    </p:spTree>
    <p:extLst>
      <p:ext uri="{BB962C8B-B14F-4D97-AF65-F5344CB8AC3E}">
        <p14:creationId xmlns:p14="http://schemas.microsoft.com/office/powerpoint/2010/main" val="32365853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Backup</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603471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690563" y="152400"/>
            <a:ext cx="7772400" cy="1470025"/>
          </a:xfrm>
        </p:spPr>
        <p:txBody>
          <a:bodyPr/>
          <a:lstStyle/>
          <a:p>
            <a:pPr eaLnBrk="1" hangingPunct="1"/>
            <a:r>
              <a:rPr lang="en-US" altLang="en-US" b="1" smtClean="0"/>
              <a:t>What are ballistic missiles?</a:t>
            </a:r>
          </a:p>
        </p:txBody>
      </p:sp>
      <p:pic>
        <p:nvPicPr>
          <p:cNvPr id="4099" name="Picture 2"/>
          <p:cNvPicPr>
            <a:picLocks noChangeAspect="1" noChangeArrowheads="1"/>
          </p:cNvPicPr>
          <p:nvPr/>
        </p:nvPicPr>
        <p:blipFill>
          <a:blip r:embed="rId3">
            <a:extLst>
              <a:ext uri="{28A0092B-C50C-407E-A947-70E740481C1C}">
                <a14:useLocalDpi xmlns:a14="http://schemas.microsoft.com/office/drawing/2010/main" val="0"/>
              </a:ext>
            </a:extLst>
          </a:blip>
          <a:srcRect t="16283"/>
          <a:stretch>
            <a:fillRect/>
          </a:stretch>
        </p:blipFill>
        <p:spPr bwMode="auto">
          <a:xfrm>
            <a:off x="0" y="2041525"/>
            <a:ext cx="9128125" cy="394652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4100" name="Rectangle 1"/>
          <p:cNvSpPr>
            <a:spLocks noChangeArrowheads="1"/>
          </p:cNvSpPr>
          <p:nvPr/>
        </p:nvSpPr>
        <p:spPr bwMode="auto">
          <a:xfrm>
            <a:off x="582613" y="1382713"/>
            <a:ext cx="80010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en-US" altLang="en-US" sz="2800"/>
              <a:t>Ballistic Missile Classifications</a:t>
            </a:r>
          </a:p>
        </p:txBody>
      </p:sp>
      <p:sp>
        <p:nvSpPr>
          <p:cNvPr id="4101" name="Rectangle 7"/>
          <p:cNvSpPr>
            <a:spLocks noChangeArrowheads="1"/>
          </p:cNvSpPr>
          <p:nvPr/>
        </p:nvSpPr>
        <p:spPr bwMode="auto">
          <a:xfrm>
            <a:off x="4583113" y="6596063"/>
            <a:ext cx="4560887" cy="2619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r>
              <a:rPr lang="en-US" altLang="en-US" sz="1100" b="1">
                <a:latin typeface="Arial" charset="0"/>
              </a:rPr>
              <a:t>Source: NASIC, Ballistic and Cruise Missile Threat, 11 July 2013</a:t>
            </a:r>
          </a:p>
        </p:txBody>
      </p:sp>
    </p:spTree>
    <p:extLst>
      <p:ext uri="{BB962C8B-B14F-4D97-AF65-F5344CB8AC3E}">
        <p14:creationId xmlns:p14="http://schemas.microsoft.com/office/powerpoint/2010/main" val="11812420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690563" y="152400"/>
            <a:ext cx="7772400" cy="1470025"/>
          </a:xfrm>
        </p:spPr>
        <p:txBody>
          <a:bodyPr/>
          <a:lstStyle/>
          <a:p>
            <a:pPr eaLnBrk="1" hangingPunct="1"/>
            <a:r>
              <a:rPr lang="en-US" altLang="en-US" b="1" dirty="0" smtClean="0"/>
              <a:t>What are ballistic missiles?</a:t>
            </a:r>
          </a:p>
        </p:txBody>
      </p:sp>
      <p:sp>
        <p:nvSpPr>
          <p:cNvPr id="3075" name="Rectangle 1"/>
          <p:cNvSpPr>
            <a:spLocks noChangeArrowheads="1"/>
          </p:cNvSpPr>
          <p:nvPr/>
        </p:nvSpPr>
        <p:spPr bwMode="auto">
          <a:xfrm>
            <a:off x="533400" y="1519238"/>
            <a:ext cx="3733800"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fontAlgn="base" hangingPunct="1">
              <a:spcBef>
                <a:spcPct val="0"/>
              </a:spcBef>
              <a:spcAft>
                <a:spcPct val="0"/>
              </a:spcAft>
              <a:buFontTx/>
              <a:buNone/>
            </a:pPr>
            <a:r>
              <a:rPr lang="en-US" altLang="en-US" sz="1600" i="1" dirty="0">
                <a:solidFill>
                  <a:prstClr val="black"/>
                </a:solidFill>
                <a:cs typeface="Arial" charset="0"/>
              </a:rPr>
              <a:t>Ballistic missiles are rocket-propelled vehicles that deliver nuclear or conventional payloads. </a:t>
            </a:r>
          </a:p>
          <a:p>
            <a:pPr eaLnBrk="1" fontAlgn="base" hangingPunct="1">
              <a:spcBef>
                <a:spcPct val="0"/>
              </a:spcBef>
              <a:spcAft>
                <a:spcPct val="0"/>
              </a:spcAft>
              <a:buFontTx/>
              <a:buNone/>
            </a:pPr>
            <a:endParaRPr lang="en-US" altLang="en-US" sz="1600" i="1" dirty="0">
              <a:solidFill>
                <a:prstClr val="black"/>
              </a:solidFill>
              <a:cs typeface="Arial" charset="0"/>
            </a:endParaRPr>
          </a:p>
          <a:p>
            <a:pPr eaLnBrk="1" fontAlgn="base" hangingPunct="1">
              <a:spcBef>
                <a:spcPct val="0"/>
              </a:spcBef>
              <a:spcAft>
                <a:spcPct val="0"/>
              </a:spcAft>
              <a:buFontTx/>
              <a:buNone/>
            </a:pPr>
            <a:r>
              <a:rPr lang="en-US" altLang="en-US" sz="1600" i="1" dirty="0">
                <a:solidFill>
                  <a:prstClr val="black"/>
                </a:solidFill>
                <a:cs typeface="Arial" charset="0"/>
              </a:rPr>
              <a:t>Potential uses of ballistic missiles can be for warfare and terrorism, and are an emerging threat to the global security environment.</a:t>
            </a:r>
          </a:p>
        </p:txBody>
      </p:sp>
      <p:pic>
        <p:nvPicPr>
          <p:cNvPr id="3076"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3657600"/>
            <a:ext cx="5105400" cy="278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848225" y="1371600"/>
            <a:ext cx="3843338"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8" name="Rectangle 7"/>
          <p:cNvSpPr>
            <a:spLocks noChangeArrowheads="1"/>
          </p:cNvSpPr>
          <p:nvPr/>
        </p:nvSpPr>
        <p:spPr bwMode="auto">
          <a:xfrm>
            <a:off x="1371600" y="6596063"/>
            <a:ext cx="7772400" cy="2619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fontAlgn="base" hangingPunct="1">
              <a:spcBef>
                <a:spcPct val="0"/>
              </a:spcBef>
              <a:spcAft>
                <a:spcPct val="0"/>
              </a:spcAft>
              <a:buFontTx/>
              <a:buNone/>
            </a:pPr>
            <a:r>
              <a:rPr lang="en-US" altLang="en-US" sz="1100" b="1">
                <a:solidFill>
                  <a:prstClr val="black"/>
                </a:solidFill>
                <a:latin typeface="Arial" charset="0"/>
                <a:cs typeface="Arial" charset="0"/>
              </a:rPr>
              <a:t>Image Sources: Top Right: Blake, M. daily Mail, 16 August 2013; Bottom: Wminnick, Intercepts, 01 December 2012 </a:t>
            </a:r>
          </a:p>
        </p:txBody>
      </p:sp>
    </p:spTree>
    <p:extLst>
      <p:ext uri="{BB962C8B-B14F-4D97-AF65-F5344CB8AC3E}">
        <p14:creationId xmlns:p14="http://schemas.microsoft.com/office/powerpoint/2010/main" val="26951052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altLang="en-US" b="1" smtClean="0"/>
              <a:t>Accessing the GUI</a:t>
            </a:r>
          </a:p>
        </p:txBody>
      </p:sp>
      <p:sp>
        <p:nvSpPr>
          <p:cNvPr id="8195" name="Content Placeholder 2"/>
          <p:cNvSpPr>
            <a:spLocks noGrp="1"/>
          </p:cNvSpPr>
          <p:nvPr>
            <p:ph idx="1"/>
          </p:nvPr>
        </p:nvSpPr>
        <p:spPr>
          <a:xfrm>
            <a:off x="381000" y="1219200"/>
            <a:ext cx="8382000" cy="3048000"/>
          </a:xfrm>
        </p:spPr>
        <p:txBody>
          <a:bodyPr/>
          <a:lstStyle/>
          <a:p>
            <a:r>
              <a:rPr lang="en-US" altLang="en-US" sz="2800" smtClean="0"/>
              <a:t>Requirements</a:t>
            </a:r>
          </a:p>
          <a:p>
            <a:pPr lvl="1"/>
            <a:r>
              <a:rPr lang="en-US" altLang="en-US" sz="2400" smtClean="0"/>
              <a:t>ArcGIS 10.2.2 and above</a:t>
            </a:r>
          </a:p>
          <a:p>
            <a:pPr lvl="1"/>
            <a:r>
              <a:rPr lang="en-US" altLang="en-US" sz="2400" smtClean="0"/>
              <a:t>Python 2.7.9</a:t>
            </a:r>
          </a:p>
          <a:p>
            <a:r>
              <a:rPr lang="en-US" altLang="en-US" sz="2800" smtClean="0"/>
              <a:t>GUI built by Python’s Tkinter and ttk module</a:t>
            </a:r>
          </a:p>
          <a:p>
            <a:pPr lvl="1"/>
            <a:r>
              <a:rPr lang="en-US" altLang="en-US" sz="2400" smtClean="0"/>
              <a:t>Other: arcpy, ctypes, imp, os, subprocess, sys, time</a:t>
            </a:r>
          </a:p>
          <a:p>
            <a:r>
              <a:rPr lang="en-US" altLang="en-US" sz="2800" smtClean="0"/>
              <a:t>Double click main.py</a:t>
            </a:r>
          </a:p>
        </p:txBody>
      </p:sp>
      <p:pic>
        <p:nvPicPr>
          <p:cNvPr id="8196" name="Picture 2"/>
          <p:cNvPicPr>
            <a:picLocks noChangeAspect="1" noChangeArrowheads="1"/>
          </p:cNvPicPr>
          <p:nvPr/>
        </p:nvPicPr>
        <p:blipFill>
          <a:blip r:embed="rId3">
            <a:extLst>
              <a:ext uri="{28A0092B-C50C-407E-A947-70E740481C1C}">
                <a14:useLocalDpi xmlns:a14="http://schemas.microsoft.com/office/drawing/2010/main" val="0"/>
              </a:ext>
            </a:extLst>
          </a:blip>
          <a:srcRect b="50000"/>
          <a:stretch>
            <a:fillRect/>
          </a:stretch>
        </p:blipFill>
        <p:spPr bwMode="auto">
          <a:xfrm>
            <a:off x="152400" y="4343400"/>
            <a:ext cx="8763000" cy="246538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39295491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b="1" dirty="0" smtClean="0"/>
              <a:t>Common Functions</a:t>
            </a:r>
          </a:p>
        </p:txBody>
      </p:sp>
      <p:sp>
        <p:nvSpPr>
          <p:cNvPr id="10243" name="Content Placeholder 2"/>
          <p:cNvSpPr>
            <a:spLocks noGrp="1"/>
          </p:cNvSpPr>
          <p:nvPr>
            <p:ph idx="1"/>
          </p:nvPr>
        </p:nvSpPr>
        <p:spPr>
          <a:xfrm>
            <a:off x="228600" y="1524000"/>
            <a:ext cx="8686800" cy="4525963"/>
          </a:xfrm>
        </p:spPr>
        <p:txBody>
          <a:bodyPr/>
          <a:lstStyle/>
          <a:p>
            <a:pPr eaLnBrk="1" hangingPunct="1">
              <a:defRPr/>
            </a:pPr>
            <a:r>
              <a:rPr lang="en-US" altLang="en-US" dirty="0" smtClean="0"/>
              <a:t>Autocomplete</a:t>
            </a:r>
          </a:p>
          <a:p>
            <a:pPr lvl="1" eaLnBrk="1" hangingPunct="1">
              <a:defRPr/>
            </a:pPr>
            <a:r>
              <a:rPr lang="en-US" altLang="en-US" dirty="0" smtClean="0"/>
              <a:t>Over 2,500 cities, 240 countries, 70 weapon systems</a:t>
            </a:r>
          </a:p>
          <a:p>
            <a:pPr eaLnBrk="1" hangingPunct="1">
              <a:defRPr/>
            </a:pPr>
            <a:r>
              <a:rPr lang="en-US" altLang="en-US" dirty="0" smtClean="0"/>
              <a:t>Customized projections</a:t>
            </a:r>
          </a:p>
          <a:p>
            <a:pPr lvl="1" eaLnBrk="1" hangingPunct="1">
              <a:defRPr/>
            </a:pPr>
            <a:r>
              <a:rPr lang="en-US" altLang="en-US" dirty="0" smtClean="0"/>
              <a:t>Map centers on centroid of country or point(s)</a:t>
            </a:r>
          </a:p>
          <a:p>
            <a:pPr eaLnBrk="1" hangingPunct="1">
              <a:defRPr/>
            </a:pPr>
            <a:r>
              <a:rPr lang="en-US" altLang="en-US" dirty="0" smtClean="0"/>
              <a:t>Classification of product </a:t>
            </a:r>
          </a:p>
          <a:p>
            <a:pPr lvl="1" eaLnBrk="1" hangingPunct="1">
              <a:defRPr/>
            </a:pPr>
            <a:r>
              <a:rPr lang="en-US" altLang="en-US" dirty="0" smtClean="0"/>
              <a:t>Automatically drawn from database</a:t>
            </a:r>
          </a:p>
          <a:p>
            <a:pPr lvl="1" eaLnBrk="1" hangingPunct="1">
              <a:defRPr/>
            </a:pPr>
            <a:r>
              <a:rPr lang="en-US" altLang="en-US" dirty="0" smtClean="0"/>
              <a:t>Performed by user via classification tool</a:t>
            </a:r>
          </a:p>
          <a:p>
            <a:pPr eaLnBrk="1" hangingPunct="1">
              <a:defRPr/>
            </a:pPr>
            <a:r>
              <a:rPr lang="en-US" altLang="en-US" dirty="0" smtClean="0"/>
              <a:t>Output format (i.e. JPEG, PDF and KMZ</a:t>
            </a:r>
            <a:r>
              <a:rPr lang="en-US" altLang="en-US" dirty="0" smtClean="0"/>
              <a:t>)</a:t>
            </a:r>
          </a:p>
          <a:p>
            <a:pPr lvl="1" eaLnBrk="1" hangingPunct="1">
              <a:defRPr/>
            </a:pPr>
            <a:r>
              <a:rPr lang="en-US" altLang="en-US" dirty="0" smtClean="0"/>
              <a:t>More output formats available for coding</a:t>
            </a:r>
            <a:endParaRPr lang="en-US" altLang="en-US" dirty="0" smtClean="0"/>
          </a:p>
          <a:p>
            <a:pPr marL="0" indent="0" eaLnBrk="1" hangingPunct="1">
              <a:buFont typeface="Arial" charset="0"/>
              <a:buNone/>
              <a:defRPr/>
            </a:pPr>
            <a:endParaRPr lang="en-US" altLang="en-US" dirty="0" smtClean="0"/>
          </a:p>
        </p:txBody>
      </p:sp>
    </p:spTree>
    <p:extLst>
      <p:ext uri="{BB962C8B-B14F-4D97-AF65-F5344CB8AC3E}">
        <p14:creationId xmlns:p14="http://schemas.microsoft.com/office/powerpoint/2010/main" val="14618140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b="1" dirty="0" smtClean="0"/>
              <a:t>Advantages</a:t>
            </a:r>
          </a:p>
        </p:txBody>
      </p:sp>
      <p:sp>
        <p:nvSpPr>
          <p:cNvPr id="16387" name="Content Placeholder 2"/>
          <p:cNvSpPr>
            <a:spLocks noGrp="1"/>
          </p:cNvSpPr>
          <p:nvPr>
            <p:ph idx="1"/>
          </p:nvPr>
        </p:nvSpPr>
        <p:spPr>
          <a:xfrm>
            <a:off x="457200" y="1295400"/>
            <a:ext cx="8229600" cy="5181600"/>
          </a:xfrm>
        </p:spPr>
        <p:txBody>
          <a:bodyPr/>
          <a:lstStyle/>
          <a:p>
            <a:r>
              <a:rPr lang="en-US" altLang="en-US" dirty="0" smtClean="0"/>
              <a:t>No GIS experience required</a:t>
            </a:r>
          </a:p>
          <a:p>
            <a:pPr lvl="1"/>
            <a:r>
              <a:rPr lang="en-US" altLang="en-US" dirty="0" smtClean="0"/>
              <a:t>ArcGIS is never opened only accessed </a:t>
            </a:r>
            <a:r>
              <a:rPr lang="en-US" altLang="en-US" dirty="0" smtClean="0"/>
              <a:t>via code</a:t>
            </a:r>
            <a:endParaRPr lang="en-US" altLang="en-US" dirty="0" smtClean="0"/>
          </a:p>
          <a:p>
            <a:pPr lvl="1"/>
            <a:r>
              <a:rPr lang="en-US" altLang="en-US" dirty="0" smtClean="0"/>
              <a:t>Map document</a:t>
            </a:r>
            <a:r>
              <a:rPr lang="en-US" altLang="en-US" dirty="0" smtClean="0"/>
              <a:t> </a:t>
            </a:r>
            <a:r>
              <a:rPr lang="en-US" altLang="en-US" dirty="0" smtClean="0"/>
              <a:t>is accessible </a:t>
            </a:r>
            <a:r>
              <a:rPr lang="en-US" altLang="en-US" dirty="0" smtClean="0"/>
              <a:t>for advanced use</a:t>
            </a:r>
            <a:endParaRPr lang="en-US" altLang="en-US" dirty="0" smtClean="0"/>
          </a:p>
          <a:p>
            <a:r>
              <a:rPr lang="en-US" altLang="en-US" dirty="0" smtClean="0"/>
              <a:t>Relatively quick execution time</a:t>
            </a:r>
          </a:p>
          <a:p>
            <a:r>
              <a:rPr lang="en-US" altLang="en-US" dirty="0" smtClean="0"/>
              <a:t>Different formats available</a:t>
            </a:r>
          </a:p>
          <a:p>
            <a:pPr lvl="1"/>
            <a:r>
              <a:rPr lang="en-US" altLang="en-US" dirty="0" smtClean="0"/>
              <a:t>Reduced time to output of additional formats</a:t>
            </a:r>
          </a:p>
          <a:p>
            <a:r>
              <a:rPr lang="en-US" altLang="en-US" dirty="0" smtClean="0"/>
              <a:t>GUIs serve as templates for additional </a:t>
            </a:r>
            <a:r>
              <a:rPr lang="en-US" altLang="en-US" dirty="0" smtClean="0"/>
              <a:t>tools</a:t>
            </a:r>
          </a:p>
          <a:p>
            <a:r>
              <a:rPr lang="en-US" altLang="en-US" dirty="0" smtClean="0"/>
              <a:t>Works for systems other than ballistic</a:t>
            </a:r>
          </a:p>
          <a:p>
            <a:pPr lvl="1"/>
            <a:r>
              <a:rPr lang="en-US" altLang="en-US" dirty="0" smtClean="0"/>
              <a:t> i.e. GLCM , ALCM , SAM , ATBM</a:t>
            </a:r>
          </a:p>
          <a:p>
            <a:pPr lvl="1"/>
            <a:r>
              <a:rPr lang="en-US" altLang="en-US" dirty="0" smtClean="0"/>
              <a:t>Code allows for the easy addition of more types</a:t>
            </a:r>
            <a:endParaRPr lang="en-US" altLang="en-US" dirty="0" smtClean="0"/>
          </a:p>
          <a:p>
            <a:endParaRPr lang="en-US" altLang="en-US" dirty="0" smtClean="0"/>
          </a:p>
          <a:p>
            <a:endParaRPr lang="en-US" altLang="en-US" dirty="0" smtClean="0"/>
          </a:p>
        </p:txBody>
      </p:sp>
    </p:spTree>
    <p:extLst>
      <p:ext uri="{BB962C8B-B14F-4D97-AF65-F5344CB8AC3E}">
        <p14:creationId xmlns:p14="http://schemas.microsoft.com/office/powerpoint/2010/main" val="42353754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ltLang="en-US" b="1" smtClean="0"/>
              <a:t>Limitations</a:t>
            </a:r>
          </a:p>
        </p:txBody>
      </p:sp>
      <p:sp>
        <p:nvSpPr>
          <p:cNvPr id="17411" name="Content Placeholder 2"/>
          <p:cNvSpPr>
            <a:spLocks noGrp="1"/>
          </p:cNvSpPr>
          <p:nvPr>
            <p:ph idx="1"/>
          </p:nvPr>
        </p:nvSpPr>
        <p:spPr>
          <a:xfrm>
            <a:off x="457200" y="1295400"/>
            <a:ext cx="8229600" cy="5181600"/>
          </a:xfrm>
        </p:spPr>
        <p:txBody>
          <a:bodyPr/>
          <a:lstStyle/>
          <a:p>
            <a:r>
              <a:rPr lang="en-US" altLang="en-US" dirty="0" smtClean="0"/>
              <a:t>Licensing</a:t>
            </a:r>
          </a:p>
          <a:p>
            <a:pPr lvl="1"/>
            <a:r>
              <a:rPr lang="en-US" altLang="en-US" dirty="0" smtClean="0"/>
              <a:t>Requires ArcGIS for Desktop Advanced</a:t>
            </a:r>
          </a:p>
          <a:p>
            <a:r>
              <a:rPr lang="en-US" altLang="en-US" dirty="0" smtClean="0"/>
              <a:t>Customized projection sets needed</a:t>
            </a:r>
          </a:p>
          <a:p>
            <a:pPr lvl="1"/>
            <a:r>
              <a:rPr lang="en-US" altLang="en-US" dirty="0" smtClean="0"/>
              <a:t>Allow user to choose projection</a:t>
            </a:r>
          </a:p>
          <a:p>
            <a:pPr lvl="2"/>
            <a:r>
              <a:rPr lang="en-US" altLang="en-US" dirty="0" smtClean="0"/>
              <a:t>i.e. polar projection</a:t>
            </a:r>
          </a:p>
          <a:p>
            <a:pPr lvl="1"/>
            <a:r>
              <a:rPr lang="en-US" altLang="en-US" dirty="0" smtClean="0"/>
              <a:t>Adjust projection to center of process</a:t>
            </a:r>
          </a:p>
          <a:p>
            <a:pPr lvl="2"/>
            <a:r>
              <a:rPr lang="en-US" altLang="en-US" dirty="0" smtClean="0"/>
              <a:t>City, country or point of interest</a:t>
            </a:r>
          </a:p>
          <a:p>
            <a:r>
              <a:rPr lang="en-US" altLang="en-US" dirty="0" smtClean="0"/>
              <a:t>Limit for range ring distance</a:t>
            </a:r>
          </a:p>
          <a:p>
            <a:pPr lvl="1"/>
            <a:r>
              <a:rPr lang="en-US" altLang="en-US" dirty="0" smtClean="0"/>
              <a:t>Function created to find maximum ranges compatible with ESRI due to processing error in Buffer Tool.</a:t>
            </a:r>
            <a:endParaRPr lang="en-US" altLang="en-US" sz="2400" dirty="0" smtClean="0"/>
          </a:p>
          <a:p>
            <a:endParaRPr lang="en-US" altLang="en-US" dirty="0" smtClean="0"/>
          </a:p>
          <a:p>
            <a:endParaRPr lang="en-US" altLang="en-US" dirty="0" smtClean="0"/>
          </a:p>
        </p:txBody>
      </p:sp>
    </p:spTree>
    <p:extLst>
      <p:ext uri="{BB962C8B-B14F-4D97-AF65-F5344CB8AC3E}">
        <p14:creationId xmlns:p14="http://schemas.microsoft.com/office/powerpoint/2010/main" val="30601068"/>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206</TotalTime>
  <Words>1275</Words>
  <Application>Microsoft Office PowerPoint</Application>
  <PresentationFormat>On-screen Show (4:3)</PresentationFormat>
  <Paragraphs>165</Paragraphs>
  <Slides>19</Slides>
  <Notes>18</Notes>
  <HiddenSlides>0</HiddenSlides>
  <MMClips>0</MMClips>
  <ScaleCrop>false</ScaleCrop>
  <HeadingPairs>
    <vt:vector size="4" baseType="variant">
      <vt:variant>
        <vt:lpstr>Theme</vt:lpstr>
      </vt:variant>
      <vt:variant>
        <vt:i4>2</vt:i4>
      </vt:variant>
      <vt:variant>
        <vt:lpstr>Slide Titles</vt:lpstr>
      </vt:variant>
      <vt:variant>
        <vt:i4>19</vt:i4>
      </vt:variant>
    </vt:vector>
  </HeadingPairs>
  <TitlesOfParts>
    <vt:vector size="21" baseType="lpstr">
      <vt:lpstr>1_Office Theme</vt:lpstr>
      <vt:lpstr>Office Theme</vt:lpstr>
      <vt:lpstr>Exporting Geospatial Expertise  Python Scripting for ArcGIS</vt:lpstr>
      <vt:lpstr>PowerPoint Presentation</vt:lpstr>
      <vt:lpstr>PowerPoint Presentation</vt:lpstr>
      <vt:lpstr>PowerPoint Presentation</vt:lpstr>
      <vt:lpstr>PowerPoint Presentation</vt:lpstr>
      <vt:lpstr>PowerPoint Presentation</vt:lpstr>
      <vt:lpstr>Range Ring Generator Tools</vt:lpstr>
      <vt:lpstr>Single Range Ring Tool</vt:lpstr>
      <vt:lpstr>Multiple Range Ring Tool</vt:lpstr>
      <vt:lpstr>PowerPoint Presentation</vt:lpstr>
      <vt:lpstr>PowerPoint Presentation</vt:lpstr>
      <vt:lpstr>PowerPoint Presentation</vt:lpstr>
      <vt:lpstr>Backup</vt:lpstr>
      <vt:lpstr>What are ballistic missiles?</vt:lpstr>
      <vt:lpstr>What are ballistic missiles?</vt:lpstr>
      <vt:lpstr>Accessing the GUI</vt:lpstr>
      <vt:lpstr>Common Functions</vt:lpstr>
      <vt:lpstr>Advantages</vt:lpstr>
      <vt:lpstr>Limitations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Packaging and Exporting Expertise  Python Scripting for ArcGIS</dc:title>
  <dc:creator>Mr. P</dc:creator>
  <cp:lastModifiedBy>Mr. P</cp:lastModifiedBy>
  <cp:revision>36</cp:revision>
  <dcterms:created xsi:type="dcterms:W3CDTF">2015-08-10T18:55:13Z</dcterms:created>
  <dcterms:modified xsi:type="dcterms:W3CDTF">2015-09-10T21:16:41Z</dcterms:modified>
</cp:coreProperties>
</file>